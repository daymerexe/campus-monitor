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3938"/>
            <a:ext cx="777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应急场景下的校园人流量监测预警系统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2395538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200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中期答辩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91000" y="3148013"/>
            <a:ext cx="762000" cy="50750"/>
          </a:xfrm>
          <a:prstGeom prst="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3579763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答辩人 | 指导教师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3849588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日期：2026年5月9日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 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123950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8491" y="122232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44352" y="1208038"/>
            <a:ext cx="1631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项目背景与研究意义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1631752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8491" y="1730127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44352" y="1715839"/>
            <a:ext cx="1087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系统总体架构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4901" y="2139553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8491" y="2237929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44352" y="2223641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硬件设计与实现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4901" y="2647355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8491" y="2745730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44352" y="2731443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软件设计与实现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4901" y="3155156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8491" y="325353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44352" y="3239244"/>
            <a:ext cx="14708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行人检测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4901" y="366295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88491" y="376133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44352" y="3747046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系统测试与结果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4901" y="4170759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88491" y="426913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44352" y="4254847"/>
            <a:ext cx="906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项目背景与研究意义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71500" y="1508075"/>
            <a:ext cx="382265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174700"/>
            <a:ext cx="38991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 园 安 全 痛 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644551"/>
            <a:ext cx="38991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高校人员密集场所缺乏实时人流监测手段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1500" y="1911251"/>
            <a:ext cx="38991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传统人工计数效率低、误差大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" y="2177951"/>
            <a:ext cx="38991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突发事件时无法快速判断疏散需求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49701" y="1508075"/>
            <a:ext cx="3822799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9701" y="1174700"/>
            <a:ext cx="38992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 究 目 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49701" y="1644551"/>
            <a:ext cx="3899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AI 视觉识别技术，实现校园重点区域人流量实时监测与自动报警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49701" y="2101751"/>
            <a:ext cx="3899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检测结果通过 Web 仪表盘可视化展示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49701" y="2368451"/>
            <a:ext cx="3899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超过阈值时自动驱动硬件报警（LED + 蜂鸣器）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系统总体架构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23950"/>
            <a:ext cx="8128099" cy="498277"/>
          </a:xfrm>
          <a:prstGeom prst="roundRect">
            <a:avLst>
              <a:gd name="adj" fmla="val 1019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123950"/>
            <a:ext cx="0" cy="498277"/>
          </a:xfrm>
          <a:prstGeom prst="line">
            <a:avLst/>
          </a:prstGeom>
          <a:noFill/>
          <a:ln w="47625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476" y="1301651"/>
            <a:ext cx="77241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ESP32-CAM  --HTTP MJPG--  PC (YOLOv8 + Flask)  --TCP :8888--  ESP8266 --UART--  STM32 --LED/Buzzer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1799927"/>
            <a:ext cx="8128099" cy="498277"/>
          </a:xfrm>
          <a:prstGeom prst="roundRect">
            <a:avLst>
              <a:gd name="adj" fmla="val 1019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1763" y="1799927"/>
            <a:ext cx="0" cy="498277"/>
          </a:xfrm>
          <a:prstGeom prst="line">
            <a:avLst/>
          </a:prstGeom>
          <a:noFill/>
          <a:ln w="47625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476" y="1977628"/>
            <a:ext cx="77241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Web  --Browser--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475905"/>
            <a:ext cx="2573834" cy="1022300"/>
          </a:xfrm>
          <a:prstGeom prst="roundRect">
            <a:avLst>
              <a:gd name="adj" fmla="val 745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7950" y="2494955"/>
            <a:ext cx="2573834" cy="0"/>
          </a:xfrm>
          <a:prstGeom prst="line">
            <a:avLst/>
          </a:prstGeom>
          <a:noFill/>
          <a:ln w="381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660" y="2666405"/>
            <a:ext cx="231441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7660" y="3041005"/>
            <a:ext cx="23144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视频采集与AI检测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ESP32-CAM + YOLOv8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84934" y="2475905"/>
            <a:ext cx="2573982" cy="1022300"/>
          </a:xfrm>
          <a:prstGeom prst="roundRect">
            <a:avLst>
              <a:gd name="adj" fmla="val 745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84934" y="2494955"/>
            <a:ext cx="2573982" cy="0"/>
          </a:xfrm>
          <a:prstGeom prst="line">
            <a:avLst/>
          </a:prstGeom>
          <a:noFill/>
          <a:ln w="381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4643" y="2666405"/>
            <a:ext cx="231456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14643" y="3041005"/>
            <a:ext cx="23145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Web可视化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+ Chart.js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62067" y="2475905"/>
            <a:ext cx="2573982" cy="1022300"/>
          </a:xfrm>
          <a:prstGeom prst="roundRect">
            <a:avLst>
              <a:gd name="adj" fmla="val 745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62067" y="2494955"/>
            <a:ext cx="2573982" cy="0"/>
          </a:xfrm>
          <a:prstGeom prst="line">
            <a:avLst/>
          </a:prstGeom>
          <a:noFill/>
          <a:ln w="381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1775" y="2666405"/>
            <a:ext cx="231456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91775" y="3041005"/>
            <a:ext cx="23145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报警执行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+ ESP8266 + STM32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硬件设计与实现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3051"/>
            <a:ext cx="3949750" cy="831503"/>
          </a:xfrm>
          <a:prstGeom prst="roundRect">
            <a:avLst>
              <a:gd name="adj" fmla="val 6109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092101"/>
            <a:ext cx="3949750" cy="0"/>
          </a:xfrm>
          <a:prstGeom prst="line">
            <a:avLst/>
          </a:prstGeom>
          <a:noFill/>
          <a:ln w="38100">
            <a:solidFill>
              <a:srgbClr val="64A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651" y="1238101"/>
            <a:ext cx="36662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STM32F103ZET6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651" y="1460302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64MHz, HAL, Keil MDK-ARM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651" y="1618952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USART1+USART2+GPIO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2031504"/>
            <a:ext cx="3949750" cy="850553"/>
          </a:xfrm>
          <a:prstGeom prst="roundRect">
            <a:avLst>
              <a:gd name="adj" fmla="val 5973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07950" y="2050554"/>
            <a:ext cx="3949750" cy="0"/>
          </a:xfrm>
          <a:prstGeom prst="line">
            <a:avLst/>
          </a:prstGeom>
          <a:noFill/>
          <a:ln w="38100">
            <a:solidFill>
              <a:srgbClr val="64A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651" y="2196554"/>
            <a:ext cx="36662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ESP32-CAM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651" y="2418755"/>
            <a:ext cx="36662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OV2640, MJPEG 推流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651" y="2596455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QVGA 320x240, XCLK 20MHz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3009007"/>
            <a:ext cx="3949750" cy="850553"/>
          </a:xfrm>
          <a:prstGeom prst="roundRect">
            <a:avLst>
              <a:gd name="adj" fmla="val 5973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7950" y="3028057"/>
            <a:ext cx="3949750" cy="0"/>
          </a:xfrm>
          <a:prstGeom prst="line">
            <a:avLst/>
          </a:prstGeom>
          <a:noFill/>
          <a:ln w="38100">
            <a:solidFill>
              <a:srgbClr val="64A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651" y="3174057"/>
            <a:ext cx="36662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ESP8266 ESP-01S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651" y="3396258"/>
            <a:ext cx="36662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固件, 透明传输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651" y="3573959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Client :8888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6300" y="1073051"/>
            <a:ext cx="3949750" cy="431602"/>
          </a:xfrm>
          <a:prstGeom prst="roundRect">
            <a:avLst>
              <a:gd name="adj" fmla="val 11770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05350" y="1073051"/>
            <a:ext cx="0" cy="431602"/>
          </a:xfrm>
          <a:prstGeom prst="line">
            <a:avLst/>
          </a:prstGeom>
          <a:noFill/>
          <a:ln w="381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6800" y="1174552"/>
            <a:ext cx="36789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STM32 PA2(TX) - ESP8266 RX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76800" y="1288852"/>
            <a:ext cx="36789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STM32 PA3(RX) - ESP8266 TX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86300" y="1580852"/>
            <a:ext cx="40287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UART 115200 8N1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86300" y="1796653"/>
            <a:ext cx="3949750" cy="545902"/>
          </a:xfrm>
          <a:prstGeom prst="roundRect">
            <a:avLst>
              <a:gd name="adj" fmla="val 9306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5350" y="1796653"/>
            <a:ext cx="0" cy="545902"/>
          </a:xfrm>
          <a:prstGeom prst="line">
            <a:avLst/>
          </a:prstGeom>
          <a:noFill/>
          <a:ln w="381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6800" y="1898154"/>
            <a:ext cx="36789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PE5: LED  / PB5: ALARM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76800" y="2012454"/>
            <a:ext cx="36789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PB8: Buzzer (Active High)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76800" y="2126754"/>
            <a:ext cx="36789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PA9/PA10: CH340 Debug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86300" y="2418755"/>
            <a:ext cx="40287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Pin Assignments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软件设计与实现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7950" y="1352401"/>
            <a:ext cx="3937099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073051"/>
            <a:ext cx="40158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后端模块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463427"/>
            <a:ext cx="3937099" cy="545902"/>
          </a:xfrm>
          <a:prstGeom prst="roundRect">
            <a:avLst>
              <a:gd name="adj" fmla="val 9306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463427"/>
            <a:ext cx="0" cy="545902"/>
          </a:xfrm>
          <a:prstGeom prst="line">
            <a:avLst/>
          </a:prstGeom>
          <a:noFill/>
          <a:ln w="381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8450" y="1564928"/>
            <a:ext cx="366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8450" y="1755428"/>
            <a:ext cx="366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入口, 6 REST API 路由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110829"/>
            <a:ext cx="3937099" cy="526852"/>
          </a:xfrm>
          <a:prstGeom prst="roundRect">
            <a:avLst>
              <a:gd name="adj" fmla="val 9642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2110829"/>
            <a:ext cx="0" cy="526852"/>
          </a:xfrm>
          <a:prstGeom prst="line">
            <a:avLst/>
          </a:prstGeom>
          <a:noFill/>
          <a:ln w="381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450" y="2212330"/>
            <a:ext cx="366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8450" y="2402830"/>
            <a:ext cx="36660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MJPEG+YOLOv8+TCP+DB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739182"/>
            <a:ext cx="3937099" cy="545902"/>
          </a:xfrm>
          <a:prstGeom prst="roundRect">
            <a:avLst>
              <a:gd name="adj" fmla="val 9306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2739182"/>
            <a:ext cx="0" cy="545902"/>
          </a:xfrm>
          <a:prstGeom prst="line">
            <a:avLst/>
          </a:prstGeom>
          <a:noFill/>
          <a:ln w="381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450" y="2840682"/>
            <a:ext cx="366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8450" y="3031182"/>
            <a:ext cx="366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SQLite: 检测+报警两张表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950" y="3386584"/>
            <a:ext cx="3937099" cy="545902"/>
          </a:xfrm>
          <a:prstGeom prst="roundRect">
            <a:avLst>
              <a:gd name="adj" fmla="val 9306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27000" y="3386584"/>
            <a:ext cx="0" cy="545902"/>
          </a:xfrm>
          <a:prstGeom prst="line">
            <a:avLst/>
          </a:prstGeom>
          <a:noFill/>
          <a:ln w="381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450" y="3488085"/>
            <a:ext cx="366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tcp_server.py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8450" y="3678585"/>
            <a:ext cx="366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8888 客户端管理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98950" y="1352401"/>
            <a:ext cx="3937099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8950" y="1073051"/>
            <a:ext cx="40158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前端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98950" y="1463427"/>
            <a:ext cx="3937099" cy="660202"/>
          </a:xfrm>
          <a:prstGeom prst="roundRect">
            <a:avLst>
              <a:gd name="adj" fmla="val 769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18000" y="1463427"/>
            <a:ext cx="0" cy="660202"/>
          </a:xfrm>
          <a:prstGeom prst="line">
            <a:avLst/>
          </a:prstGeom>
          <a:noFill/>
          <a:ln w="381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9450" y="1564928"/>
            <a:ext cx="366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实时折线图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89450" y="1717328"/>
            <a:ext cx="366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毛玻璃仪表盘, 2s刷新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89450" y="1869728"/>
            <a:ext cx="366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动态阈值 + 手动报警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98950" y="2504480"/>
            <a:ext cx="3937099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8950" y="2225129"/>
            <a:ext cx="40158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固件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98950" y="2615505"/>
            <a:ext cx="3937099" cy="488752"/>
          </a:xfrm>
          <a:prstGeom prst="roundRect">
            <a:avLst>
              <a:gd name="adj" fmla="val 1039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718000" y="2615505"/>
            <a:ext cx="0" cy="488752"/>
          </a:xfrm>
          <a:prstGeom prst="line">
            <a:avLst/>
          </a:prstGeom>
          <a:noFill/>
          <a:ln w="38100">
            <a:solidFill>
              <a:srgbClr val="1A56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9450" y="2717006"/>
            <a:ext cx="366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init  TCP 透传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9450" y="2869406"/>
            <a:ext cx="36660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sscanf GPIOPinCtrl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行人检测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7950" y="1352401"/>
            <a:ext cx="3937099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073051"/>
            <a:ext cx="40158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检测流程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463427"/>
            <a:ext cx="40158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HTTP 直读 MJPEG 流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1676102"/>
            <a:ext cx="40158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SOI/EOI 标记切帧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888778"/>
            <a:ext cx="40158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cv2.imdecode 解码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2101453"/>
            <a:ext cx="40158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320x240 YOLOv8n 推理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314129"/>
            <a:ext cx="40158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person 过滤 (COCO=0)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603004"/>
            <a:ext cx="3937099" cy="558701"/>
          </a:xfrm>
          <a:prstGeom prst="roundRect">
            <a:avLst>
              <a:gd name="adj" fmla="val 9093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1763" y="2603004"/>
            <a:ext cx="0" cy="558701"/>
          </a:xfrm>
          <a:prstGeom prst="line">
            <a:avLst/>
          </a:prstGeom>
          <a:noFill/>
          <a:ln w="47625">
            <a:solidFill>
              <a:srgbClr val="64A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3276" y="2729954"/>
            <a:ext cx="36047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协议格式: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3276" y="2891879"/>
            <a:ext cx="36047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COUNT:N,ALARM:0/1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98950" y="1352401"/>
            <a:ext cx="3937099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8950" y="1073051"/>
            <a:ext cx="40158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报警防抖机制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98950" y="1463427"/>
            <a:ext cx="3937099" cy="415826"/>
          </a:xfrm>
          <a:prstGeom prst="roundRect">
            <a:avLst>
              <a:gd name="adj" fmla="val 12217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22763" y="1463427"/>
            <a:ext cx="0" cy="415826"/>
          </a:xfrm>
          <a:prstGeom prst="line">
            <a:avLst/>
          </a:prstGeom>
          <a:noFill/>
          <a:ln w="47625">
            <a:solidFill>
              <a:srgbClr val="64A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4276" y="1590377"/>
            <a:ext cx="36047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 3 帧超阈值  触发报警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950" y="1980754"/>
            <a:ext cx="3937099" cy="415826"/>
          </a:xfrm>
          <a:prstGeom prst="roundRect">
            <a:avLst>
              <a:gd name="adj" fmla="val 12217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22763" y="1980754"/>
            <a:ext cx="0" cy="415826"/>
          </a:xfrm>
          <a:prstGeom prst="line">
            <a:avLst/>
          </a:prstGeom>
          <a:noFill/>
          <a:ln w="47625">
            <a:solidFill>
              <a:srgbClr val="64A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4276" y="2107704"/>
            <a:ext cx="36047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 3 帧低于阈值 解除报警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98950" y="2498080"/>
            <a:ext cx="3937099" cy="415826"/>
          </a:xfrm>
          <a:prstGeom prst="roundRect">
            <a:avLst>
              <a:gd name="adj" fmla="val 12217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22763" y="2498080"/>
            <a:ext cx="0" cy="415826"/>
          </a:xfrm>
          <a:prstGeom prst="line">
            <a:avLst/>
          </a:prstGeom>
          <a:noFill/>
          <a:ln w="47625">
            <a:solidFill>
              <a:srgbClr val="64A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4276" y="2625030"/>
            <a:ext cx="36047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状态锁定 3s   防止震荡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8950" y="3320207"/>
            <a:ext cx="3937099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8950" y="3040856"/>
            <a:ext cx="40158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其他优化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98950" y="3431232"/>
            <a:ext cx="40158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广播限速 0.5s 防 UART 溢出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98950" y="3643908"/>
            <a:ext cx="40158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写入限速 2s 间隔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98950" y="3856583"/>
            <a:ext cx="40158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手动报警暂停自动 TCP 广播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关键技术与选型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22300"/>
            <a:ext cx="4330750" cy="749201"/>
          </a:xfrm>
          <a:prstGeom prst="roundRect">
            <a:avLst>
              <a:gd name="adj" fmla="val 10171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041350"/>
            <a:ext cx="4330750" cy="0"/>
          </a:xfrm>
          <a:prstGeom prst="line">
            <a:avLst/>
          </a:prstGeom>
          <a:noFill/>
          <a:ln w="38100">
            <a:solidFill>
              <a:srgbClr val="64A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0350" y="1136600"/>
            <a:ext cx="41064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MJPEG 解析方案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0350" y="1365200"/>
            <a:ext cx="4106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cv2.VideoCapture FFmpeg 不稳定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0350" y="1530251"/>
            <a:ext cx="4106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raw + SOI/EOI 手动切帧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1847701"/>
            <a:ext cx="4330750" cy="749201"/>
          </a:xfrm>
          <a:prstGeom prst="roundRect">
            <a:avLst>
              <a:gd name="adj" fmla="val 10171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07950" y="1866751"/>
            <a:ext cx="4330750" cy="0"/>
          </a:xfrm>
          <a:prstGeom prst="line">
            <a:avLst/>
          </a:prstGeom>
          <a:noFill/>
          <a:ln w="38100">
            <a:solidFill>
              <a:srgbClr val="64A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350" y="1962001"/>
            <a:ext cx="41064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ESP8266 通信模式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0350" y="2190601"/>
            <a:ext cx="4106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普通模式 需解析+IPD前缀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0350" y="2355652"/>
            <a:ext cx="4106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透明传输 CIPMODE=1 数据直达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673102"/>
            <a:ext cx="4330750" cy="914251"/>
          </a:xfrm>
          <a:prstGeom prst="roundRect">
            <a:avLst>
              <a:gd name="adj" fmla="val 833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7950" y="2692152"/>
            <a:ext cx="4330750" cy="0"/>
          </a:xfrm>
          <a:prstGeom prst="line">
            <a:avLst/>
          </a:prstGeom>
          <a:noFill/>
          <a:ln w="38100">
            <a:solidFill>
              <a:srgbClr val="64A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350" y="2787402"/>
            <a:ext cx="41064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初始化优化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0350" y="3016002"/>
            <a:ext cx="4106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保存 WiFi, 上电自动连热点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0350" y="3181052"/>
            <a:ext cx="4106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去掉冗余 AT 指令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0350" y="3346103"/>
            <a:ext cx="4106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启动: 15s 5s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950" y="3663553"/>
            <a:ext cx="4330750" cy="749201"/>
          </a:xfrm>
          <a:prstGeom prst="roundRect">
            <a:avLst>
              <a:gd name="adj" fmla="val 10171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7950" y="3682603"/>
            <a:ext cx="4330750" cy="0"/>
          </a:xfrm>
          <a:prstGeom prst="line">
            <a:avLst/>
          </a:prstGeom>
          <a:noFill/>
          <a:ln w="38100">
            <a:solidFill>
              <a:srgbClr val="64A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350" y="3777853"/>
            <a:ext cx="41064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稳定性保障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0350" y="4006453"/>
            <a:ext cx="4106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SO_KEEPALIVE + 5s 超时检测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0350" y="4171504"/>
            <a:ext cx="4106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广播时自动清理死连接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系统测试与结果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7950" y="1352401"/>
            <a:ext cx="392430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073051"/>
            <a:ext cx="400278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功能测试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463427"/>
            <a:ext cx="40027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视频流稳定显示 (localhost:5000)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1688753"/>
            <a:ext cx="40027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准确识别行人并实时计数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914079"/>
            <a:ext cx="40027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超阈值时 Web 弹窗 + STM32 报警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2139404"/>
            <a:ext cx="40027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端动态调节阈值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364730"/>
            <a:ext cx="40027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报警事件记录数据库, 历史可查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11601" y="1352401"/>
            <a:ext cx="3924449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1601" y="1073051"/>
            <a:ext cx="40029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性能指标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11601" y="1463427"/>
          <a:ext cx="3924449" cy="2489002"/>
        </p:xfrm>
        <a:graphic>
          <a:graphicData uri="http://schemas.openxmlformats.org/drawingml/2006/table">
            <a:tbl>
              <a:tblPr/>
              <a:tblGrid>
                <a:gridCol w="1569780"/>
                <a:gridCol w="2354669"/>
              </a:tblGrid>
              <a:tr h="497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数值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497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E6ED"/>
                          </a:solidFill>
                        </a:rPr>
                        <a:t>检测帧率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E6ED"/>
                          </a:solidFill>
                        </a:rPr>
                        <a:t>10-15 FPS (CPU 推理)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6"/>
                    </a:solidFill>
                  </a:tcPr>
                </a:tc>
              </a:tr>
              <a:tr h="497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E6ED"/>
                          </a:solidFill>
                        </a:rPr>
                        <a:t>报警响应延迟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E6ED"/>
                          </a:solidFill>
                        </a:rPr>
                        <a:t>&lt; 1 秒 (3 帧确认)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6"/>
                    </a:solidFill>
                  </a:tcPr>
                </a:tc>
              </a:tr>
              <a:tr h="497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E6ED"/>
                          </a:solidFill>
                        </a:rPr>
                        <a:t>STM32 控制响应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E6ED"/>
                          </a:solidFill>
                        </a:rPr>
                        <a:t>&lt; 100ms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6"/>
                    </a:solidFill>
                  </a:tcPr>
                </a:tc>
              </a:tr>
              <a:tr h="497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E6ED"/>
                          </a:solidFill>
                        </a:rPr>
                        <a:t>Web 页面刷新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E6ED"/>
                          </a:solidFill>
                        </a:rPr>
                        <a:t>2 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7950" y="1403300"/>
            <a:ext cx="391165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123950"/>
            <a:ext cx="398988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已完成工作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539776"/>
            <a:ext cx="39898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ESP32-CAM 视频采集与 MJPEG 推流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1806476"/>
            <a:ext cx="39898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YOLOv8 行人检测模型部署与推理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073176"/>
            <a:ext cx="39898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Flask Web 可视化仪表盘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2339876"/>
            <a:ext cx="39898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TCP + ESP8266 + STM32 报警链路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606576"/>
            <a:ext cx="39898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EC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报警防抖、阈值调节、历史记录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24400" y="1403300"/>
            <a:ext cx="391165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4400" y="1123950"/>
            <a:ext cx="398988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下一步计划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24400" y="1539776"/>
            <a:ext cx="39898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校园场景数据集微调, 提升精度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24400" y="1806476"/>
            <a:ext cx="39898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支持多摄像头同时监测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24400" y="2073176"/>
            <a:ext cx="39898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短信/邮件远程报警通知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24400" y="2339876"/>
            <a:ext cx="39898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4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部署到 Jetson Nano 等嵌入式平台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3356" y="1708249"/>
            <a:ext cx="118028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致 谢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191000" y="2578150"/>
            <a:ext cx="762000" cy="50750"/>
          </a:xfrm>
          <a:prstGeom prst="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30972" y="2882801"/>
            <a:ext cx="171554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感谢各位老师聆听!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60899" y="3159026"/>
            <a:ext cx="145064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欢迎提问与指导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应急场景下的校园人流量监测预警系统 - 中期答辩</dc:title>
  <dc:subject>PptxGenJS Presentation</dc:subject>
  <dc:creator>答辩人</dc:creator>
  <cp:lastModifiedBy>答辩人</cp:lastModifiedBy>
  <cp:revision>1</cp:revision>
  <dcterms:created xsi:type="dcterms:W3CDTF">2026-05-12T14:53:05Z</dcterms:created>
  <dcterms:modified xsi:type="dcterms:W3CDTF">2026-05-12T14:53:05Z</dcterms:modified>
</cp:coreProperties>
</file>
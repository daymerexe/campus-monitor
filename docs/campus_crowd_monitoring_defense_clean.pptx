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016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73152" cy="169164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033271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100" b="1">
                <a:solidFill>
                  <a:srgbClr val="122340"/>
                </a:solidFill>
                <a:latin typeface="微软雅黑" panose="020B0503020204020204" charset="-122"/>
              </a:rPr>
              <a:t>应急场景下的校园人流量监测预警系统</a:t>
            </a:r>
            <a:endParaRPr sz="31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9536" y="1773936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微软雅黑" panose="020B0503020204020204" charset="-122"/>
              </a:rPr>
              <a:t>中期答辩</a:t>
            </a:r>
            <a:endParaRPr sz="22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" y="2267712"/>
            <a:ext cx="987552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微软雅黑" panose="020B0503020204020204" charset="-122"/>
              </a:rPr>
              <a:t>基于 ESP32-CAM、YOLOv8、Flask、ESP8266 与 STM32F103ZET6 的实时监测与硬件报警方案</a:t>
            </a:r>
            <a:endParaRPr sz="16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59536" y="3749039"/>
            <a:ext cx="196596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913632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0EA5E9"/>
                </a:solidFill>
                <a:latin typeface="微软雅黑" panose="020B0503020204020204" charset="-122"/>
              </a:rPr>
              <a:t>视频采集</a:t>
            </a:r>
            <a:endParaRPr sz="1300" b="1">
              <a:solidFill>
                <a:srgbClr val="0EA5E9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74136" y="3749039"/>
            <a:ext cx="196596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4136" y="3913632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微软雅黑" panose="020B0503020204020204" charset="-122"/>
              </a:rPr>
              <a:t>AI 识别</a:t>
            </a:r>
            <a:endParaRPr sz="13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888736" y="3749039"/>
            <a:ext cx="196596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88736" y="3913632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微软雅黑" panose="020B0503020204020204" charset="-122"/>
              </a:rPr>
              <a:t>Web 可视化</a:t>
            </a:r>
            <a:endParaRPr sz="1300" b="1">
              <a:solidFill>
                <a:srgbClr val="16A34A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403336" y="3749039"/>
            <a:ext cx="196596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3913632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微软雅黑" panose="020B0503020204020204" charset="-122"/>
              </a:rPr>
              <a:t>硬件报警</a:t>
            </a:r>
            <a:endParaRPr sz="13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9536" y="5559552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微软雅黑" panose="020B0503020204020204" charset="-122"/>
              </a:rPr>
              <a:t>答辩人：__________    指导教师：__________    日期：2026年5月9日</a:t>
            </a:r>
            <a:endParaRPr sz="13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658368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20" b="0">
                <a:solidFill>
                  <a:srgbClr val="6B7280"/>
                </a:solidFill>
                <a:latin typeface="微软雅黑" panose="020B0503020204020204" charset="-122"/>
              </a:rPr>
              <a:t>应急场景下的校园人流量监测预警系统｜中期答辩</a:t>
            </a:r>
            <a:endParaRPr sz="82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201400" y="64648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0">
                <a:solidFill>
                  <a:srgbClr val="6B7280"/>
                </a:solidFill>
                <a:latin typeface="微软雅黑" panose="020B0503020204020204" charset="-122"/>
              </a:rPr>
              <a:t>01</a:t>
            </a:r>
            <a:endParaRPr sz="95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122340"/>
                </a:solidFill>
                <a:latin typeface="微软雅黑" panose="020B0503020204020204" charset="-122"/>
              </a:rPr>
              <a:t>一、汇报结构与项目定位</a:t>
            </a:r>
            <a:endParaRPr sz="24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418320" y="310896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80" b="0">
                <a:solidFill>
                  <a:srgbClr val="6B7280"/>
                </a:solidFill>
                <a:latin typeface="微软雅黑" panose="020B0503020204020204" charset="-122"/>
              </a:rPr>
              <a:t>从整体到细节</a:t>
            </a:r>
            <a:endParaRPr sz="108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786384"/>
            <a:ext cx="950976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78992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50" b="1">
                <a:solidFill>
                  <a:srgbClr val="2563EB"/>
                </a:solidFill>
                <a:latin typeface="微软雅黑" panose="020B0503020204020204" charset="-122"/>
              </a:rPr>
              <a:t>汇报按照“背景需求 → 总体架构 → 硬件实现 → 软件实现 → 关键技术 → 测试展望”的顺序展开。</a:t>
            </a:r>
            <a:endParaRPr sz="155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微软雅黑" panose="020B0503020204020204" charset="-122"/>
              </a:rPr>
              <a:t>01</a:t>
            </a:r>
            <a:endParaRPr sz="15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00200" y="181051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微软雅黑" panose="020B0503020204020204" charset="-122"/>
              </a:rPr>
              <a:t>项目背景与研究意义</a:t>
            </a:r>
            <a:endParaRPr sz="15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06240" y="1819656"/>
            <a:ext cx="672084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微软雅黑" panose="020B0503020204020204" charset="-122"/>
              </a:rPr>
              <a:t>校园重点区域人流密集，突发事件下需要实时监测和快速预警。</a:t>
            </a:r>
            <a:endParaRPr sz="13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60120" y="2340864"/>
            <a:ext cx="10332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70048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微软雅黑" panose="020B0503020204020204" charset="-122"/>
              </a:rPr>
              <a:t>02</a:t>
            </a:r>
            <a:endParaRPr sz="15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00200" y="265176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微软雅黑" panose="020B0503020204020204" charset="-122"/>
              </a:rPr>
              <a:t>系统总体架构</a:t>
            </a:r>
            <a:endParaRPr sz="15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06240" y="2660904"/>
            <a:ext cx="672084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微软雅黑" panose="020B0503020204020204" charset="-122"/>
              </a:rPr>
              <a:t>视频流、AI 检测、Web 可视化、TCP 通信和硬件报警构成闭环。</a:t>
            </a:r>
            <a:endParaRPr sz="13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60120" y="3182112"/>
            <a:ext cx="10332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511296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微软雅黑" panose="020B0503020204020204" charset="-122"/>
              </a:rPr>
              <a:t>03</a:t>
            </a:r>
            <a:endParaRPr sz="15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00200" y="349300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微软雅黑" panose="020B0503020204020204" charset="-122"/>
              </a:rPr>
              <a:t>硬件与软件实现</a:t>
            </a:r>
            <a:endParaRPr sz="15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06240" y="3502152"/>
            <a:ext cx="672084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微软雅黑" panose="020B0503020204020204" charset="-122"/>
              </a:rPr>
              <a:t>ESP32-CAM 采集，PC 端推理，ESP8266 桥接，STM32 执行报警。</a:t>
            </a:r>
            <a:endParaRPr sz="13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60120" y="4023360"/>
            <a:ext cx="10332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352544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微软雅黑" panose="020B0503020204020204" charset="-122"/>
              </a:rPr>
              <a:t>04</a:t>
            </a:r>
            <a:endParaRPr sz="15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00200" y="433425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微软雅黑" panose="020B0503020204020204" charset="-122"/>
              </a:rPr>
              <a:t>关键技术与测试结果</a:t>
            </a:r>
            <a:endParaRPr sz="15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06240" y="4343400"/>
            <a:ext cx="672084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微软雅黑" panose="020B0503020204020204" charset="-122"/>
              </a:rPr>
              <a:t>重点说明 YOLOv8 检测、MJPEG 解析、报警防抖和通信稳定性。</a:t>
            </a:r>
            <a:endParaRPr sz="13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60120" y="5486400"/>
            <a:ext cx="10287000" cy="81661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2" y="5605272"/>
            <a:ext cx="9957816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>
                <a:solidFill>
                  <a:srgbClr val="DC2626"/>
                </a:solidFill>
                <a:latin typeface="微软雅黑" panose="020B0503020204020204" charset="-122"/>
              </a:rPr>
              <a:t>汇报重点</a:t>
            </a:r>
            <a:endParaRPr sz="155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24712" y="5961888"/>
            <a:ext cx="9957816" cy="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微软雅黑" panose="020B0503020204020204" charset="-122"/>
              </a:rPr>
              <a:t>不是单独展示某个模块，而是说明从摄像头采集、AI 识别、网页展示到 STM32 声光报警的完整工程链路。</a:t>
            </a:r>
            <a:endParaRPr sz="11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6928" y="6473952"/>
            <a:ext cx="658368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20" b="0">
                <a:solidFill>
                  <a:srgbClr val="6B7280"/>
                </a:solidFill>
                <a:latin typeface="微软雅黑" panose="020B0503020204020204" charset="-122"/>
              </a:rPr>
              <a:t>应急场景下的校园人流量监测预警系统｜中期答辩</a:t>
            </a:r>
            <a:endParaRPr sz="82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201400" y="64648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0">
                <a:solidFill>
                  <a:srgbClr val="6B7280"/>
                </a:solidFill>
                <a:latin typeface="微软雅黑" panose="020B0503020204020204" charset="-122"/>
              </a:rPr>
              <a:t>02</a:t>
            </a:r>
            <a:endParaRPr sz="95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122340"/>
                </a:solidFill>
                <a:latin typeface="微软雅黑" panose="020B0503020204020204" charset="-122"/>
              </a:rPr>
              <a:t>二、项目背景与研究意义</a:t>
            </a:r>
            <a:endParaRPr sz="24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418320" y="310896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80" b="0">
                <a:solidFill>
                  <a:srgbClr val="6B7280"/>
                </a:solidFill>
                <a:latin typeface="微软雅黑" panose="020B0503020204020204" charset="-122"/>
              </a:rPr>
              <a:t>需求分析</a:t>
            </a:r>
            <a:endParaRPr sz="108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786384"/>
            <a:ext cx="950976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5156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22340"/>
                </a:solidFill>
                <a:latin typeface="微软雅黑" panose="020B0503020204020204" charset="-122"/>
              </a:rPr>
              <a:t>校园安全痛点</a:t>
            </a:r>
            <a:endParaRPr sz="20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1508760"/>
            <a:ext cx="5166360" cy="2103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微软雅黑" panose="020B0503020204020204" charset="-122"/>
              </a:rPr>
              <a:t>人员密集：</a:t>
            </a:r>
            <a:r>
              <a:rPr sz="1400">
                <a:solidFill>
                  <a:srgbClr val="1F2937"/>
                </a:solidFill>
                <a:latin typeface="微软雅黑" panose="020B0503020204020204" charset="-122"/>
              </a:rPr>
              <a:t>食堂、体育馆、教学楼等场所高峰期人流变化快，拥挤风险难以及时发现。</a:t>
            </a:r>
            <a:endParaRPr sz="140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微软雅黑" panose="020B0503020204020204" charset="-122"/>
              </a:rPr>
              <a:t>人工低效：</a:t>
            </a:r>
            <a:r>
              <a:rPr sz="1400">
                <a:solidFill>
                  <a:srgbClr val="1F2937"/>
                </a:solidFill>
                <a:latin typeface="微软雅黑" panose="020B0503020204020204" charset="-122"/>
              </a:rPr>
              <a:t>传统人工计数依赖巡查，效率低、误差大，难以形成连续数据记录。</a:t>
            </a:r>
            <a:endParaRPr sz="140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微软雅黑" panose="020B0503020204020204" charset="-122"/>
              </a:rPr>
              <a:t>应急困难：</a:t>
            </a:r>
            <a:r>
              <a:rPr sz="1400">
                <a:solidFill>
                  <a:srgbClr val="1F2937"/>
                </a:solidFill>
                <a:latin typeface="微软雅黑" panose="020B0503020204020204" charset="-122"/>
              </a:rPr>
              <a:t>火灾、地震等突发事件中，管理人员需要快速判断疏散压力和报警需求。</a:t>
            </a:r>
            <a:endParaRPr sz="140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0" y="1051560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22340"/>
                </a:solidFill>
                <a:latin typeface="微软雅黑" panose="020B0503020204020204" charset="-122"/>
              </a:rPr>
              <a:t>研究目标</a:t>
            </a:r>
            <a:endParaRPr sz="20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46520" y="1508760"/>
            <a:ext cx="5074920" cy="2103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微软雅黑" panose="020B0503020204020204" charset="-122"/>
              </a:rPr>
              <a:t>实时监测：</a:t>
            </a:r>
            <a:r>
              <a:rPr sz="1400">
                <a:solidFill>
                  <a:srgbClr val="1F2937"/>
                </a:solidFill>
                <a:latin typeface="微软雅黑" panose="020B0503020204020204" charset="-122"/>
              </a:rPr>
              <a:t>基于 AI 视觉识别统计校园重点区域人流量。</a:t>
            </a:r>
            <a:endParaRPr sz="140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微软雅黑" panose="020B0503020204020204" charset="-122"/>
              </a:rPr>
              <a:t>自动预警：</a:t>
            </a:r>
            <a:r>
              <a:rPr sz="1400">
                <a:solidFill>
                  <a:srgbClr val="1F2937"/>
                </a:solidFill>
                <a:latin typeface="微软雅黑" panose="020B0503020204020204" charset="-122"/>
              </a:rPr>
              <a:t>人数超过阈值时触发 Web 端报警与 STM32 声光报警。</a:t>
            </a:r>
            <a:endParaRPr sz="140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微软雅黑" panose="020B0503020204020204" charset="-122"/>
              </a:rPr>
              <a:t>可视化管理：</a:t>
            </a:r>
            <a:r>
              <a:rPr sz="1400">
                <a:solidFill>
                  <a:srgbClr val="1F2937"/>
                </a:solidFill>
                <a:latin typeface="微软雅黑" panose="020B0503020204020204" charset="-122"/>
              </a:rPr>
              <a:t>通过 Web 仪表盘展示当前人数、趋势曲线、阈值设置和报警历史。</a:t>
            </a:r>
            <a:endParaRPr sz="140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41248" y="4315968"/>
            <a:ext cx="2971800" cy="8412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434840"/>
            <a:ext cx="2642616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>
                <a:solidFill>
                  <a:srgbClr val="0EA5E9"/>
                </a:solidFill>
                <a:latin typeface="微软雅黑" panose="020B0503020204020204" charset="-122"/>
              </a:rPr>
              <a:t>检测对象</a:t>
            </a:r>
            <a:endParaRPr sz="1550" b="1">
              <a:solidFill>
                <a:srgbClr val="0EA5E9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4791456"/>
            <a:ext cx="2642616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微软雅黑" panose="020B0503020204020204" charset="-122"/>
              </a:rPr>
              <a:t>画面中的 person 类别目标</a:t>
            </a:r>
            <a:endParaRPr sz="11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90288" y="4315968"/>
            <a:ext cx="2971800" cy="8412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4434840"/>
            <a:ext cx="2642616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>
                <a:solidFill>
                  <a:srgbClr val="16A34A"/>
                </a:solidFill>
                <a:latin typeface="微软雅黑" panose="020B0503020204020204" charset="-122"/>
              </a:rPr>
              <a:t>判断依据</a:t>
            </a:r>
            <a:endParaRPr sz="1550" b="1">
              <a:solidFill>
                <a:srgbClr val="16A34A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54879" y="4791456"/>
            <a:ext cx="2642616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微软雅黑" panose="020B0503020204020204" charset="-122"/>
              </a:rPr>
              <a:t>人数阈值 + 连续帧防抖</a:t>
            </a:r>
            <a:endParaRPr sz="11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39327" y="4315968"/>
            <a:ext cx="2971800" cy="8412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9" y="4434840"/>
            <a:ext cx="2642616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>
                <a:solidFill>
                  <a:srgbClr val="DC2626"/>
                </a:solidFill>
                <a:latin typeface="微软雅黑" panose="020B0503020204020204" charset="-122"/>
              </a:rPr>
              <a:t>输出结果</a:t>
            </a:r>
            <a:endParaRPr sz="155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03919" y="4791456"/>
            <a:ext cx="2642616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微软雅黑" panose="020B0503020204020204" charset="-122"/>
              </a:rPr>
              <a:t>网页报警 + LED/蜂鸣器</a:t>
            </a:r>
            <a:endParaRPr sz="11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760720"/>
            <a:ext cx="10241280" cy="29260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微软雅黑" panose="020B0503020204020204" charset="-122"/>
              </a:rPr>
              <a:t>项目价值：将 AI 视觉检测与嵌入式硬件执行结合，形成适合校园应急场景的人流量监测预警原型系统。</a:t>
            </a:r>
            <a:endParaRPr sz="15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928" y="6473952"/>
            <a:ext cx="658368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20" b="0">
                <a:solidFill>
                  <a:srgbClr val="6B7280"/>
                </a:solidFill>
                <a:latin typeface="微软雅黑" panose="020B0503020204020204" charset="-122"/>
              </a:rPr>
              <a:t>应急场景下的校园人流量监测预警系统｜中期答辩</a:t>
            </a:r>
            <a:endParaRPr sz="82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201400" y="64648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0">
                <a:solidFill>
                  <a:srgbClr val="6B7280"/>
                </a:solidFill>
                <a:latin typeface="微软雅黑" panose="020B0503020204020204" charset="-122"/>
              </a:rPr>
              <a:t>03</a:t>
            </a:r>
            <a:endParaRPr sz="95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122340"/>
                </a:solidFill>
                <a:latin typeface="微软雅黑" panose="020B0503020204020204" charset="-122"/>
              </a:rPr>
              <a:t>三、系统总体架构</a:t>
            </a:r>
            <a:endParaRPr sz="24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418320" y="310896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80" b="0">
                <a:solidFill>
                  <a:srgbClr val="6B7280"/>
                </a:solidFill>
                <a:latin typeface="微软雅黑" panose="020B0503020204020204" charset="-122"/>
              </a:rPr>
              <a:t>数据闭环</a:t>
            </a:r>
            <a:endParaRPr sz="108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786384"/>
            <a:ext cx="950976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50" b="1">
                <a:solidFill>
                  <a:srgbClr val="2563EB"/>
                </a:solidFill>
                <a:latin typeface="微软雅黑" panose="020B0503020204020204" charset="-122"/>
              </a:rPr>
              <a:t>核心数据流：视频采集 → AI 推理计数 → Web 可视化 → TCP 下发 → STM32 执行报警。</a:t>
            </a:r>
            <a:endParaRPr sz="155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2596896" y="2377440"/>
            <a:ext cx="475488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818888" y="2377440"/>
            <a:ext cx="475488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040880" y="2377440"/>
            <a:ext cx="475488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262872" y="2377440"/>
            <a:ext cx="475488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8368" y="1901952"/>
            <a:ext cx="1938528" cy="950976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57400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微软雅黑" panose="020B0503020204020204" charset="-122"/>
              </a:rPr>
              <a:t>ESP32-CAM</a:t>
            </a:r>
            <a:endParaRPr sz="1400" b="1">
              <a:solidFill>
                <a:srgbClr val="0EA5E9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9808" y="2350008"/>
            <a:ext cx="175564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80" b="0">
                <a:solidFill>
                  <a:srgbClr val="1F2937"/>
                </a:solidFill>
                <a:latin typeface="微软雅黑" panose="020B0503020204020204" charset="-122"/>
              </a:rPr>
              <a:t>HTTP MJPEG
视频流</a:t>
            </a:r>
            <a:endParaRPr sz="108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880360" y="1901952"/>
            <a:ext cx="1938528" cy="950976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2057400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微软雅黑" panose="020B0503020204020204" charset="-122"/>
              </a:rPr>
              <a:t>PC 后端</a:t>
            </a:r>
            <a:endParaRPr sz="14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71800" y="2350008"/>
            <a:ext cx="175564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80" b="0">
                <a:solidFill>
                  <a:srgbClr val="1F2937"/>
                </a:solidFill>
                <a:latin typeface="微软雅黑" panose="020B0503020204020204" charset="-122"/>
              </a:rPr>
              <a:t>YOLOv8 + Flask
检测 / 接口</a:t>
            </a:r>
            <a:endParaRPr sz="108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102352" y="1901952"/>
            <a:ext cx="1938528" cy="950976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3792" y="2057400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A34A"/>
                </a:solidFill>
                <a:latin typeface="微软雅黑" panose="020B0503020204020204" charset="-122"/>
              </a:rPr>
              <a:t>浏览器</a:t>
            </a:r>
            <a:endParaRPr sz="1400" b="1">
              <a:solidFill>
                <a:srgbClr val="16A34A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93792" y="2350008"/>
            <a:ext cx="175564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80" b="0">
                <a:solidFill>
                  <a:srgbClr val="1F2937"/>
                </a:solidFill>
                <a:latin typeface="微软雅黑" panose="020B0503020204020204" charset="-122"/>
              </a:rPr>
              <a:t>实时画面
图表 / 阈值</a:t>
            </a:r>
            <a:endParaRPr sz="108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324344" y="1901952"/>
            <a:ext cx="1938528" cy="950976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784" y="2057400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D97706"/>
                </a:solidFill>
                <a:latin typeface="微软雅黑" panose="020B0503020204020204" charset="-122"/>
              </a:rPr>
              <a:t>ESP8266</a:t>
            </a:r>
            <a:endParaRPr sz="14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15784" y="2350008"/>
            <a:ext cx="175564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80" b="0">
                <a:solidFill>
                  <a:srgbClr val="1F2937"/>
                </a:solidFill>
                <a:latin typeface="微软雅黑" panose="020B0503020204020204" charset="-122"/>
              </a:rPr>
              <a:t>TCP 客户端
WiFi 桥接</a:t>
            </a:r>
            <a:endParaRPr sz="108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546336" y="1901952"/>
            <a:ext cx="1938528" cy="950976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37776" y="2057400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DC2626"/>
                </a:solidFill>
                <a:latin typeface="微软雅黑" panose="020B0503020204020204" charset="-122"/>
              </a:rPr>
              <a:t>STM32</a:t>
            </a:r>
            <a:endParaRPr sz="14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37776" y="2350008"/>
            <a:ext cx="175564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80" b="0">
                <a:solidFill>
                  <a:srgbClr val="1F2937"/>
                </a:solidFill>
                <a:latin typeface="微软雅黑" panose="020B0503020204020204" charset="-122"/>
              </a:rPr>
              <a:t>UART 解析
LED / 蜂鸣器</a:t>
            </a:r>
            <a:endParaRPr sz="108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3232" y="370332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50" b="1">
                <a:solidFill>
                  <a:srgbClr val="122340"/>
                </a:solidFill>
                <a:latin typeface="微软雅黑" panose="020B0503020204020204" charset="-122"/>
              </a:rPr>
              <a:t>三大子系统</a:t>
            </a:r>
            <a:endParaRPr sz="195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9808" y="4114800"/>
            <a:ext cx="5440680" cy="1389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70" b="1">
                <a:solidFill>
                  <a:srgbClr val="1F2937"/>
                </a:solidFill>
                <a:latin typeface="微软雅黑" panose="020B0503020204020204" charset="-122"/>
              </a:rPr>
              <a:t>视频采集与 AI 检测：</a:t>
            </a:r>
            <a:r>
              <a:rPr sz="1270">
                <a:solidFill>
                  <a:srgbClr val="1F2937"/>
                </a:solidFill>
                <a:latin typeface="微软雅黑" panose="020B0503020204020204" charset="-122"/>
              </a:rPr>
              <a:t>ESP32-CAM 提供 MJPEG 流，PC 端 YOLOv8 识别 person 并统计人数。</a:t>
            </a:r>
            <a:endParaRPr sz="127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70" b="1">
                <a:solidFill>
                  <a:srgbClr val="1F2937"/>
                </a:solidFill>
                <a:latin typeface="微软雅黑" panose="020B0503020204020204" charset="-122"/>
              </a:rPr>
              <a:t>Web 可视化：</a:t>
            </a:r>
            <a:r>
              <a:rPr sz="1270">
                <a:solidFill>
                  <a:srgbClr val="1F2937"/>
                </a:solidFill>
                <a:latin typeface="微软雅黑" panose="020B0503020204020204" charset="-122"/>
              </a:rPr>
              <a:t>Flask 提供接口，Chart.js 展示人数趋势、阈值和报警历史。</a:t>
            </a:r>
            <a:endParaRPr sz="127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70" b="1">
                <a:solidFill>
                  <a:srgbClr val="1F2937"/>
                </a:solidFill>
                <a:latin typeface="微软雅黑" panose="020B0503020204020204" charset="-122"/>
              </a:rPr>
              <a:t>报警执行：</a:t>
            </a:r>
            <a:r>
              <a:rPr sz="1270">
                <a:solidFill>
                  <a:srgbClr val="1F2937"/>
                </a:solidFill>
                <a:latin typeface="微软雅黑" panose="020B0503020204020204" charset="-122"/>
              </a:rPr>
              <a:t>TCP 指令经 ESP8266 转 UART，STM32 控制 LED 与蜂鸣器。</a:t>
            </a:r>
            <a:endParaRPr sz="127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73952" y="370332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50" b="1">
                <a:solidFill>
                  <a:srgbClr val="122340"/>
                </a:solidFill>
                <a:latin typeface="微软雅黑" panose="020B0503020204020204" charset="-122"/>
              </a:rPr>
              <a:t>链路特点</a:t>
            </a:r>
            <a:endParaRPr sz="195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10528" y="4114800"/>
            <a:ext cx="4983480" cy="1389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70">
                <a:solidFill>
                  <a:srgbClr val="1F2937"/>
                </a:solidFill>
                <a:latin typeface="微软雅黑" panose="020B0503020204020204" charset="-122"/>
              </a:rPr>
              <a:t>PC 负责计算密集型 AI 推理，STM32 负责实时、稳定的硬件执行。</a:t>
            </a:r>
            <a:endParaRPr sz="127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70">
                <a:solidFill>
                  <a:srgbClr val="1F2937"/>
                </a:solidFill>
                <a:latin typeface="微软雅黑" panose="020B0503020204020204" charset="-122"/>
              </a:rPr>
              <a:t>TCP + 透明传输减少中间解析复杂度，便于 STM32 逐行处理。</a:t>
            </a:r>
            <a:endParaRPr sz="127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70">
                <a:solidFill>
                  <a:srgbClr val="1F2937"/>
                </a:solidFill>
                <a:latin typeface="微软雅黑" panose="020B0503020204020204" charset="-122"/>
              </a:rPr>
              <a:t>Web 页面既用于展示，也提供阈值调节、手动报警和解除报警入口。</a:t>
            </a:r>
            <a:endParaRPr sz="127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6928" y="6473952"/>
            <a:ext cx="658368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20" b="0">
                <a:solidFill>
                  <a:srgbClr val="6B7280"/>
                </a:solidFill>
                <a:latin typeface="微软雅黑" panose="020B0503020204020204" charset="-122"/>
              </a:rPr>
              <a:t>应急场景下的校园人流量监测预警系统｜中期答辩</a:t>
            </a:r>
            <a:endParaRPr sz="82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201400" y="64648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0">
                <a:solidFill>
                  <a:srgbClr val="6B7280"/>
                </a:solidFill>
                <a:latin typeface="微软雅黑" panose="020B0503020204020204" charset="-122"/>
              </a:rPr>
              <a:t>04</a:t>
            </a:r>
            <a:endParaRPr sz="95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122340"/>
                </a:solidFill>
                <a:latin typeface="微软雅黑" panose="020B0503020204020204" charset="-122"/>
              </a:rPr>
              <a:t>四、硬件设计与实现</a:t>
            </a:r>
            <a:endParaRPr sz="24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418320" y="310896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80" b="0">
                <a:solidFill>
                  <a:srgbClr val="6B7280"/>
                </a:solidFill>
                <a:latin typeface="微软雅黑" panose="020B0503020204020204" charset="-122"/>
              </a:rPr>
              <a:t>模块与接线</a:t>
            </a:r>
            <a:endParaRPr sz="108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786384"/>
            <a:ext cx="950976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495" y="1005840"/>
            <a:ext cx="3429000" cy="129667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124712"/>
            <a:ext cx="3099816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>
                <a:solidFill>
                  <a:srgbClr val="2563EB"/>
                </a:solidFill>
                <a:latin typeface="微软雅黑" panose="020B0503020204020204" charset="-122"/>
              </a:rPr>
              <a:t>STM32F103ZET6 控制板</a:t>
            </a:r>
            <a:endParaRPr sz="155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926" y="1463040"/>
            <a:ext cx="3118104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130">
                <a:solidFill>
                  <a:srgbClr val="1F2937"/>
                </a:solidFill>
                <a:latin typeface="微软雅黑" panose="020B0503020204020204" charset="-122"/>
              </a:rPr>
              <a:t>HAL 库 + Keil MDK-ARM 开发</a:t>
            </a:r>
            <a:endParaRPr sz="11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130">
                <a:solidFill>
                  <a:srgbClr val="1F2937"/>
                </a:solidFill>
                <a:latin typeface="微软雅黑" panose="020B0503020204020204" charset="-122"/>
              </a:rPr>
              <a:t>USART1 调试，USART2 与 ESP8266 通信</a:t>
            </a:r>
            <a:endParaRPr sz="11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130">
                <a:solidFill>
                  <a:srgbClr val="1F2937"/>
                </a:solidFill>
                <a:latin typeface="微软雅黑" panose="020B0503020204020204" charset="-122"/>
              </a:rPr>
              <a:t>GPIO 控制黄灯、红灯和蜂鸣器</a:t>
            </a:r>
            <a:endParaRPr sz="113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89120" y="1005840"/>
            <a:ext cx="3429000" cy="129667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124712"/>
            <a:ext cx="3099816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>
                <a:solidFill>
                  <a:srgbClr val="0EA5E9"/>
                </a:solidFill>
                <a:latin typeface="微软雅黑" panose="020B0503020204020204" charset="-122"/>
              </a:rPr>
              <a:t>ESP32-CAM 摄像头模块</a:t>
            </a:r>
            <a:endParaRPr sz="1550" b="1">
              <a:solidFill>
                <a:srgbClr val="0EA5E9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44568" y="1463040"/>
            <a:ext cx="3118104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130">
                <a:solidFill>
                  <a:srgbClr val="1F2937"/>
                </a:solidFill>
                <a:latin typeface="微软雅黑" panose="020B0503020204020204" charset="-122"/>
              </a:rPr>
              <a:t>AI-THINKER，OV2640 传感器</a:t>
            </a:r>
            <a:endParaRPr sz="11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130">
                <a:solidFill>
                  <a:srgbClr val="1F2937"/>
                </a:solidFill>
                <a:latin typeface="微软雅黑" panose="020B0503020204020204" charset="-122"/>
              </a:rPr>
              <a:t>QVGA 320×240，XCLK 20MHz</a:t>
            </a:r>
            <a:endParaRPr sz="11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130">
                <a:solidFill>
                  <a:srgbClr val="1F2937"/>
                </a:solidFill>
                <a:latin typeface="微软雅黑" panose="020B0503020204020204" charset="-122"/>
              </a:rPr>
              <a:t>通过 WiFi 提供 MJPEG 视频流</a:t>
            </a:r>
            <a:endParaRPr sz="113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119745" y="1005840"/>
            <a:ext cx="3429000" cy="1337945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4" y="1124712"/>
            <a:ext cx="3099816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>
                <a:solidFill>
                  <a:srgbClr val="D97706"/>
                </a:solidFill>
                <a:latin typeface="微软雅黑" panose="020B0503020204020204" charset="-122"/>
              </a:rPr>
              <a:t>ESP8266 ESP-01S</a:t>
            </a:r>
            <a:endParaRPr sz="155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75320" y="1463040"/>
            <a:ext cx="3118104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130">
                <a:solidFill>
                  <a:srgbClr val="1F2937"/>
                </a:solidFill>
                <a:latin typeface="微软雅黑" panose="020B0503020204020204" charset="-122"/>
              </a:rPr>
              <a:t>AT 固件，CIPMODE=1 透明传输</a:t>
            </a:r>
            <a:endParaRPr sz="11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130">
                <a:solidFill>
                  <a:srgbClr val="1F2937"/>
                </a:solidFill>
                <a:latin typeface="微软雅黑" panose="020B0503020204020204" charset="-122"/>
              </a:rPr>
              <a:t>作为 TCP 客户端连接 PC:8888</a:t>
            </a:r>
            <a:endParaRPr sz="11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130">
                <a:solidFill>
                  <a:srgbClr val="1F2937"/>
                </a:solidFill>
                <a:latin typeface="微软雅黑" panose="020B0503020204020204" charset="-122"/>
              </a:rPr>
              <a:t>把 TCP 数据转发到 STM32 UART</a:t>
            </a:r>
            <a:endParaRPr sz="113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514600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22340"/>
                </a:solidFill>
                <a:latin typeface="微软雅黑" panose="020B0503020204020204" charset="-122"/>
              </a:rPr>
              <a:t>STM32 关键引脚分配</a:t>
            </a:r>
            <a:endParaRPr sz="18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58368" y="2889504"/>
            <a:ext cx="1188720" cy="320040"/>
          </a:xfrm>
          <a:prstGeom prst="rect">
            <a:avLst/>
          </a:prstGeom>
          <a:solidFill>
            <a:srgbClr val="122340"/>
          </a:solidFill>
          <a:ln w="10160">
            <a:solidFill>
              <a:srgbClr val="12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13385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微软雅黑" panose="020B0503020204020204" charset="-122"/>
              </a:rPr>
              <a:t>引脚</a:t>
            </a:r>
            <a:endParaRPr sz="96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847088" y="2889504"/>
            <a:ext cx="1234440" cy="320040"/>
          </a:xfrm>
          <a:prstGeom prst="rect">
            <a:avLst/>
          </a:prstGeom>
          <a:solidFill>
            <a:srgbClr val="122340"/>
          </a:solidFill>
          <a:ln w="10160">
            <a:solidFill>
              <a:srgbClr val="12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74519" y="2953512"/>
            <a:ext cx="117957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微软雅黑" panose="020B0503020204020204" charset="-122"/>
              </a:rPr>
              <a:t>外设</a:t>
            </a:r>
            <a:endParaRPr sz="96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81528" y="2889504"/>
            <a:ext cx="3063240" cy="320040"/>
          </a:xfrm>
          <a:prstGeom prst="rect">
            <a:avLst/>
          </a:prstGeom>
          <a:solidFill>
            <a:srgbClr val="122340"/>
          </a:solidFill>
          <a:ln w="10160">
            <a:solidFill>
              <a:srgbClr val="12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2953512"/>
            <a:ext cx="300837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微软雅黑" panose="020B0503020204020204" charset="-122"/>
              </a:rPr>
              <a:t>说明</a:t>
            </a:r>
            <a:endParaRPr sz="96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58368" y="3209544"/>
            <a:ext cx="11887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273552"/>
            <a:ext cx="113385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PA2/PA3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847088" y="3209544"/>
            <a:ext cx="123444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74519" y="3273552"/>
            <a:ext cx="117957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USART2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081528" y="3209544"/>
            <a:ext cx="306324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3273552"/>
            <a:ext cx="300837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与 ESP8266 通信，115200 8N1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8368" y="3529584"/>
            <a:ext cx="1188720" cy="32004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593592"/>
            <a:ext cx="113385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PA9/PA10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847088" y="3529584"/>
            <a:ext cx="1234440" cy="32004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74519" y="3593592"/>
            <a:ext cx="117957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USART1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081528" y="3529584"/>
            <a:ext cx="3063240" cy="32004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3593592"/>
            <a:ext cx="300837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CH340 调试串口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58368" y="3849624"/>
            <a:ext cx="11887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3913632"/>
            <a:ext cx="113385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PE5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847088" y="3849624"/>
            <a:ext cx="123444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74519" y="3913632"/>
            <a:ext cx="117957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黄灯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081528" y="3849624"/>
            <a:ext cx="306324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3913632"/>
            <a:ext cx="300837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低电平亮，调试指示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58368" y="4169664"/>
            <a:ext cx="1188720" cy="32004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233672"/>
            <a:ext cx="113385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PB5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847088" y="4169664"/>
            <a:ext cx="1234440" cy="32004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74519" y="4233672"/>
            <a:ext cx="117957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红灯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081528" y="4169664"/>
            <a:ext cx="3063240" cy="32004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4233672"/>
            <a:ext cx="300837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低电平亮，报警指示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58368" y="4489704"/>
            <a:ext cx="11887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553712"/>
            <a:ext cx="113385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PB8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847088" y="4489704"/>
            <a:ext cx="123444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74519" y="4553712"/>
            <a:ext cx="117957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蜂鸣器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081528" y="4489704"/>
            <a:ext cx="306324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0" y="4553712"/>
            <a:ext cx="300837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高电平响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446520" y="251460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22340"/>
                </a:solidFill>
                <a:latin typeface="微软雅黑" panose="020B0503020204020204" charset="-122"/>
              </a:rPr>
              <a:t>ESP8266 接线与供电注意</a:t>
            </a:r>
            <a:endParaRPr sz="18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446520" y="2889504"/>
            <a:ext cx="1234440" cy="320040"/>
          </a:xfrm>
          <a:prstGeom prst="rect">
            <a:avLst/>
          </a:prstGeom>
          <a:solidFill>
            <a:srgbClr val="122340"/>
          </a:solidFill>
          <a:ln w="10160">
            <a:solidFill>
              <a:srgbClr val="12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73952" y="2953512"/>
            <a:ext cx="117957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微软雅黑" panose="020B0503020204020204" charset="-122"/>
              </a:rPr>
              <a:t>STM32</a:t>
            </a:r>
            <a:endParaRPr sz="96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680960" y="2889504"/>
            <a:ext cx="1371600" cy="320040"/>
          </a:xfrm>
          <a:prstGeom prst="rect">
            <a:avLst/>
          </a:prstGeom>
          <a:solidFill>
            <a:srgbClr val="122340"/>
          </a:solidFill>
          <a:ln w="10160">
            <a:solidFill>
              <a:srgbClr val="12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08392" y="2953512"/>
            <a:ext cx="131673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微软雅黑" panose="020B0503020204020204" charset="-122"/>
              </a:rPr>
              <a:t>ESP8266</a:t>
            </a:r>
            <a:endParaRPr sz="96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9052560" y="2889504"/>
            <a:ext cx="2743200" cy="320040"/>
          </a:xfrm>
          <a:prstGeom prst="rect">
            <a:avLst/>
          </a:prstGeom>
          <a:solidFill>
            <a:srgbClr val="122340"/>
          </a:solidFill>
          <a:ln w="10160">
            <a:solidFill>
              <a:srgbClr val="12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79992" y="2953512"/>
            <a:ext cx="268833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微软雅黑" panose="020B0503020204020204" charset="-122"/>
              </a:rPr>
              <a:t>说明</a:t>
            </a:r>
            <a:endParaRPr sz="96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446520" y="3209544"/>
            <a:ext cx="123444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73952" y="3273552"/>
            <a:ext cx="117957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PA2 TX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7680960" y="3209544"/>
            <a:ext cx="137160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08392" y="3273552"/>
            <a:ext cx="131673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RX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9052560" y="3209544"/>
            <a:ext cx="274320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79992" y="3273552"/>
            <a:ext cx="268833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STM32 发送到 WiFi 模块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446520" y="3529584"/>
            <a:ext cx="1234440" cy="32004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73952" y="3593592"/>
            <a:ext cx="117957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PA3 RX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680960" y="3529584"/>
            <a:ext cx="1371600" cy="32004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08392" y="3593592"/>
            <a:ext cx="131673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TX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9052560" y="3529584"/>
            <a:ext cx="2743200" cy="32004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79992" y="3593592"/>
            <a:ext cx="268833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STM32 接收 WiFi 模块数据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446520" y="3849624"/>
            <a:ext cx="123444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73952" y="3913632"/>
            <a:ext cx="117957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3.3V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7680960" y="3849624"/>
            <a:ext cx="137160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08392" y="3913632"/>
            <a:ext cx="131673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VCC/EN/GPIO0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9052560" y="3849624"/>
            <a:ext cx="274320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79992" y="3913632"/>
            <a:ext cx="268833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上电使能与正常启动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6446520" y="4169664"/>
            <a:ext cx="1234440" cy="32004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73952" y="4233672"/>
            <a:ext cx="117957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GND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7680960" y="4169664"/>
            <a:ext cx="1371600" cy="32004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708392" y="4233672"/>
            <a:ext cx="131673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GND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9052560" y="4169664"/>
            <a:ext cx="2743200" cy="32004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079992" y="4233672"/>
            <a:ext cx="2688336" cy="210311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微软雅黑" panose="020B0503020204020204" charset="-122"/>
              </a:rPr>
              <a:t>共地保证串口电平参考一致</a:t>
            </a:r>
            <a:endParaRPr sz="94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492240" y="4791456"/>
            <a:ext cx="488289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80" b="1">
                <a:solidFill>
                  <a:srgbClr val="DC2626"/>
                </a:solidFill>
                <a:latin typeface="微软雅黑" panose="020B0503020204020204" charset="-122"/>
              </a:rPr>
              <a:t>注意：ESP8266 峰值电流可达 300mA+，建议独立稳定 3.3V 供电，不要仅依赖 STM32 板载引脚。</a:t>
            </a:r>
            <a:endParaRPr sz="128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66928" y="6473952"/>
            <a:ext cx="658368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20" b="0">
                <a:solidFill>
                  <a:srgbClr val="6B7280"/>
                </a:solidFill>
                <a:latin typeface="微软雅黑" panose="020B0503020204020204" charset="-122"/>
              </a:rPr>
              <a:t>应急场景下的校园人流量监测预警系统｜中期答辩</a:t>
            </a:r>
            <a:endParaRPr sz="82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1201400" y="64648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0">
                <a:solidFill>
                  <a:srgbClr val="6B7280"/>
                </a:solidFill>
                <a:latin typeface="微软雅黑" panose="020B0503020204020204" charset="-122"/>
              </a:rPr>
              <a:t>05</a:t>
            </a:r>
            <a:endParaRPr sz="95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122340"/>
                </a:solidFill>
                <a:latin typeface="微软雅黑" panose="020B0503020204020204" charset="-122"/>
              </a:rPr>
              <a:t>五、软件设计与实现</a:t>
            </a:r>
            <a:endParaRPr sz="24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418320" y="310896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80" b="0">
                <a:solidFill>
                  <a:srgbClr val="6B7280"/>
                </a:solidFill>
                <a:latin typeface="微软雅黑" panose="020B0503020204020204" charset="-122"/>
              </a:rPr>
              <a:t>模块化设计</a:t>
            </a:r>
            <a:endParaRPr sz="108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786384"/>
            <a:ext cx="950976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24128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微软雅黑" panose="020B0503020204020204" charset="-122"/>
              </a:rPr>
              <a:t>软件部分分为 Python 后端、Web 前端和 STM32 固件，分别负责检测推理、可视化交互和硬件控制。</a:t>
            </a:r>
            <a:endParaRPr sz="15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1627632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22340"/>
                </a:solidFill>
                <a:latin typeface="微软雅黑" panose="020B0503020204020204" charset="-122"/>
              </a:rPr>
              <a:t>Python 后端：campus_monitor/</a:t>
            </a:r>
            <a:endParaRPr sz="18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3232" y="1984248"/>
            <a:ext cx="1325880" cy="384048"/>
          </a:xfrm>
          <a:prstGeom prst="rect">
            <a:avLst/>
          </a:prstGeom>
          <a:solidFill>
            <a:srgbClr val="122340"/>
          </a:solidFill>
          <a:ln w="10160">
            <a:solidFill>
              <a:srgbClr val="12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2048255"/>
            <a:ext cx="12710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微软雅黑" panose="020B0503020204020204" charset="-122"/>
              </a:rPr>
              <a:t>文件</a:t>
            </a:r>
            <a:endParaRPr sz="98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39112" y="1984248"/>
            <a:ext cx="3886200" cy="384048"/>
          </a:xfrm>
          <a:prstGeom prst="rect">
            <a:avLst/>
          </a:prstGeom>
          <a:solidFill>
            <a:srgbClr val="122340"/>
          </a:solidFill>
          <a:ln w="10160">
            <a:solidFill>
              <a:srgbClr val="12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66543" y="2048255"/>
            <a:ext cx="3831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微软雅黑" panose="020B0503020204020204" charset="-122"/>
              </a:rPr>
              <a:t>功能</a:t>
            </a:r>
            <a:endParaRPr sz="98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3232" y="2368296"/>
            <a:ext cx="13258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432303"/>
            <a:ext cx="12710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60" b="0">
                <a:solidFill>
                  <a:srgbClr val="1F2937"/>
                </a:solidFill>
                <a:latin typeface="微软雅黑" panose="020B0503020204020204" charset="-122"/>
              </a:rPr>
              <a:t>app.py</a:t>
            </a:r>
            <a:endParaRPr sz="96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9112" y="2368296"/>
            <a:ext cx="388620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3" y="2432303"/>
            <a:ext cx="3831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60" b="0">
                <a:solidFill>
                  <a:srgbClr val="1F2937"/>
                </a:solidFill>
                <a:latin typeface="微软雅黑" panose="020B0503020204020204" charset="-122"/>
              </a:rPr>
              <a:t>Flask 入口，提供 6 个 REST API 路由</a:t>
            </a:r>
            <a:endParaRPr sz="96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13232" y="2752344"/>
            <a:ext cx="1325880" cy="38404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816351"/>
            <a:ext cx="12710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60" b="0">
                <a:solidFill>
                  <a:srgbClr val="1F2937"/>
                </a:solidFill>
                <a:latin typeface="微软雅黑" panose="020B0503020204020204" charset="-122"/>
              </a:rPr>
              <a:t>detector.py</a:t>
            </a:r>
            <a:endParaRPr sz="96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039112" y="2752344"/>
            <a:ext cx="3886200" cy="38404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66543" y="2816351"/>
            <a:ext cx="3831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60" b="0">
                <a:solidFill>
                  <a:srgbClr val="1F2937"/>
                </a:solidFill>
                <a:latin typeface="微软雅黑" panose="020B0503020204020204" charset="-122"/>
              </a:rPr>
              <a:t>MJPEG 读取、YOLOv8 推理、TCP 广播、DB 写入</a:t>
            </a:r>
            <a:endParaRPr sz="96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13232" y="3136391"/>
            <a:ext cx="13258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3200399"/>
            <a:ext cx="12710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60" b="0">
                <a:solidFill>
                  <a:srgbClr val="1F2937"/>
                </a:solidFill>
                <a:latin typeface="微软雅黑" panose="020B0503020204020204" charset="-122"/>
              </a:rPr>
              <a:t>db.py</a:t>
            </a:r>
            <a:endParaRPr sz="96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039112" y="3136391"/>
            <a:ext cx="388620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66543" y="3200399"/>
            <a:ext cx="3831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60" b="0">
                <a:solidFill>
                  <a:srgbClr val="1F2937"/>
                </a:solidFill>
                <a:latin typeface="微软雅黑" panose="020B0503020204020204" charset="-122"/>
              </a:rPr>
              <a:t>SQLite 数据库层：检测记录表 + 报警事件表</a:t>
            </a:r>
            <a:endParaRPr sz="96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13232" y="3520439"/>
            <a:ext cx="1325880" cy="38404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" y="3584447"/>
            <a:ext cx="12710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60" b="0">
                <a:solidFill>
                  <a:srgbClr val="1F2937"/>
                </a:solidFill>
                <a:latin typeface="微软雅黑" panose="020B0503020204020204" charset="-122"/>
              </a:rPr>
              <a:t>tcp_server.py</a:t>
            </a:r>
            <a:endParaRPr sz="96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039112" y="3520439"/>
            <a:ext cx="3886200" cy="38404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66543" y="3584447"/>
            <a:ext cx="3831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960" b="0">
                <a:solidFill>
                  <a:srgbClr val="1F2937"/>
                </a:solidFill>
                <a:latin typeface="微软雅黑" panose="020B0503020204020204" charset="-122"/>
              </a:rPr>
              <a:t>TCP Server 监听 8888，维护客户端列表</a:t>
            </a:r>
            <a:endParaRPr sz="96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46520" y="1627632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22340"/>
                </a:solidFill>
                <a:latin typeface="微软雅黑" panose="020B0503020204020204" charset="-122"/>
              </a:rPr>
              <a:t>Web 前端：templates/index.html</a:t>
            </a:r>
            <a:endParaRPr sz="18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92240" y="1984248"/>
            <a:ext cx="4892040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80">
                <a:solidFill>
                  <a:srgbClr val="1F2937"/>
                </a:solidFill>
                <a:latin typeface="微软雅黑" panose="020B0503020204020204" charset="-122"/>
              </a:rPr>
              <a:t>Chart.js 折线图实时展示人数变化趋势。</a:t>
            </a:r>
            <a:endParaRPr sz="128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80">
                <a:solidFill>
                  <a:srgbClr val="1F2937"/>
                </a:solidFill>
                <a:latin typeface="微软雅黑" panose="020B0503020204020204" charset="-122"/>
              </a:rPr>
              <a:t>仪表盘每 2 秒自动刷新，展示当前人数、阈值与报警状态。</a:t>
            </a:r>
            <a:endParaRPr sz="128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80">
                <a:solidFill>
                  <a:srgbClr val="1F2937"/>
                </a:solidFill>
                <a:latin typeface="微软雅黑" panose="020B0503020204020204" charset="-122"/>
              </a:rPr>
              <a:t>支持动态调节阈值、手动报警/解除、报警历史记录表格。</a:t>
            </a:r>
            <a:endParaRPr sz="128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46520" y="3767328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22340"/>
                </a:solidFill>
                <a:latin typeface="微软雅黑" panose="020B0503020204020204" charset="-122"/>
              </a:rPr>
              <a:t>STM32 固件：stm32_serial_led/Src/main.c</a:t>
            </a:r>
            <a:endParaRPr sz="18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92240" y="4114800"/>
            <a:ext cx="4892040" cy="11430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80">
                <a:solidFill>
                  <a:srgbClr val="1F2937"/>
                </a:solidFill>
                <a:latin typeface="微软雅黑" panose="020B0503020204020204" charset="-122"/>
              </a:rPr>
              <a:t>完成 ESP8266 AT 初始化，进入透明传输模式。</a:t>
            </a:r>
            <a:endParaRPr sz="128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80">
                <a:solidFill>
                  <a:srgbClr val="1F2937"/>
                </a:solidFill>
                <a:latin typeface="微软雅黑" panose="020B0503020204020204" charset="-122"/>
              </a:rPr>
              <a:t>串口逐行接收 TCP 指令，sscanf 解析 COUNT 与 ALARM 字段。</a:t>
            </a:r>
            <a:endParaRPr sz="128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80">
                <a:solidFill>
                  <a:srgbClr val="1F2937"/>
                </a:solidFill>
                <a:latin typeface="微软雅黑" panose="020B0503020204020204" charset="-122"/>
              </a:rPr>
              <a:t>根据报警位控制红灯、黄灯和蜂鸣器。</a:t>
            </a:r>
            <a:endParaRPr sz="128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41375" y="5212080"/>
            <a:ext cx="5010785" cy="94615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330952"/>
            <a:ext cx="4681728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>
                <a:solidFill>
                  <a:srgbClr val="16A34A"/>
                </a:solidFill>
                <a:latin typeface="微软雅黑" panose="020B0503020204020204" charset="-122"/>
              </a:rPr>
              <a:t>软件设计特点</a:t>
            </a:r>
            <a:endParaRPr sz="1550" b="1">
              <a:solidFill>
                <a:srgbClr val="16A34A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05840" y="5650992"/>
            <a:ext cx="4681728" cy="3657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微软雅黑" panose="020B0503020204020204" charset="-122"/>
              </a:rPr>
              <a:t>上位机负责复杂算法和数据展示，下位机负责稳定执行，分工清晰，便于调试与扩展。</a:t>
            </a:r>
            <a:endParaRPr sz="11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66928" y="6473952"/>
            <a:ext cx="658368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20" b="0">
                <a:solidFill>
                  <a:srgbClr val="6B7280"/>
                </a:solidFill>
                <a:latin typeface="微软雅黑" panose="020B0503020204020204" charset="-122"/>
              </a:rPr>
              <a:t>应急场景下的校园人流量监测预警系统｜中期答辩</a:t>
            </a:r>
            <a:endParaRPr sz="82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201400" y="64648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0">
                <a:solidFill>
                  <a:srgbClr val="6B7280"/>
                </a:solidFill>
                <a:latin typeface="微软雅黑" panose="020B0503020204020204" charset="-122"/>
              </a:rPr>
              <a:t>06</a:t>
            </a:r>
            <a:endParaRPr sz="95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122340"/>
                </a:solidFill>
                <a:latin typeface="微软雅黑" panose="020B0503020204020204" charset="-122"/>
              </a:rPr>
              <a:t>六、YOLOv8 行人检测与报警防抖</a:t>
            </a:r>
            <a:endParaRPr sz="24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418320" y="310896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80" b="0">
                <a:solidFill>
                  <a:srgbClr val="6B7280"/>
                </a:solidFill>
                <a:latin typeface="微软雅黑" panose="020B0503020204020204" charset="-122"/>
              </a:rPr>
              <a:t>关键细节</a:t>
            </a:r>
            <a:endParaRPr sz="108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786384"/>
            <a:ext cx="950976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495" y="1005840"/>
            <a:ext cx="3246120" cy="13284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124712"/>
            <a:ext cx="2916936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>
                <a:solidFill>
                  <a:srgbClr val="2563EB"/>
                </a:solidFill>
                <a:latin typeface="微软雅黑" panose="020B0503020204020204" charset="-122"/>
              </a:rPr>
              <a:t>模型选型</a:t>
            </a:r>
            <a:endParaRPr sz="155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3816" y="1463040"/>
            <a:ext cx="2935224" cy="4297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130">
                <a:solidFill>
                  <a:srgbClr val="1F2937"/>
                </a:solidFill>
                <a:latin typeface="微软雅黑" panose="020B0503020204020204" charset="-122"/>
              </a:rPr>
              <a:t>YOLOv8n（nano）轻量级模型</a:t>
            </a:r>
            <a:endParaRPr sz="11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130">
                <a:solidFill>
                  <a:srgbClr val="1F2937"/>
                </a:solidFill>
                <a:latin typeface="微软雅黑" panose="020B0503020204020204" charset="-122"/>
              </a:rPr>
              <a:t>只检测 COCO person 类别（ID=0）</a:t>
            </a:r>
            <a:endParaRPr sz="11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130">
                <a:solidFill>
                  <a:srgbClr val="1F2937"/>
                </a:solidFill>
                <a:latin typeface="微软雅黑" panose="020B0503020204020204" charset="-122"/>
              </a:rPr>
              <a:t>适合 CPU 实时推理与原型验证</a:t>
            </a:r>
            <a:endParaRPr sz="113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43400" y="1051560"/>
            <a:ext cx="7132320" cy="24688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50" b="1">
                <a:solidFill>
                  <a:srgbClr val="122340"/>
                </a:solidFill>
                <a:latin typeface="微软雅黑" panose="020B0503020204020204" charset="-122"/>
              </a:rPr>
              <a:t>检测流程</a:t>
            </a:r>
            <a:endParaRPr sz="185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43400" y="1444752"/>
            <a:ext cx="1115568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1536192"/>
            <a:ext cx="1042415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微软雅黑" panose="020B0503020204020204" charset="-122"/>
              </a:rPr>
              <a:t>1</a:t>
            </a:r>
            <a:endParaRPr sz="13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79976" y="1755648"/>
            <a:ext cx="1042415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20" b="0">
                <a:solidFill>
                  <a:srgbClr val="1F2937"/>
                </a:solidFill>
                <a:latin typeface="微软雅黑" panose="020B0503020204020204" charset="-122"/>
              </a:rPr>
              <a:t>HTTP 直读
MJPEG</a:t>
            </a:r>
            <a:endParaRPr sz="92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5458968" y="1828800"/>
            <a:ext cx="301752" cy="0"/>
          </a:xfrm>
          <a:prstGeom prst="line">
            <a:avLst/>
          </a:prstGeom>
          <a:ln w="1397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760720" y="1444752"/>
            <a:ext cx="1115568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97296" y="1536192"/>
            <a:ext cx="1042415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微软雅黑" panose="020B0503020204020204" charset="-122"/>
              </a:rPr>
              <a:t>2</a:t>
            </a:r>
            <a:endParaRPr sz="13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97296" y="1755648"/>
            <a:ext cx="1042415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20" b="0">
                <a:solidFill>
                  <a:srgbClr val="1F2937"/>
                </a:solidFill>
                <a:latin typeface="微软雅黑" panose="020B0503020204020204" charset="-122"/>
              </a:rPr>
              <a:t>SOI/EOI
切帧</a:t>
            </a:r>
            <a:endParaRPr sz="92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876288" y="1828800"/>
            <a:ext cx="301752" cy="0"/>
          </a:xfrm>
          <a:prstGeom prst="line">
            <a:avLst/>
          </a:prstGeom>
          <a:ln w="1397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78040" y="1444752"/>
            <a:ext cx="1115568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14616" y="1536192"/>
            <a:ext cx="1042415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微软雅黑" panose="020B0503020204020204" charset="-122"/>
              </a:rPr>
              <a:t>3</a:t>
            </a:r>
            <a:endParaRPr sz="13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14616" y="1755648"/>
            <a:ext cx="1042415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20" b="0">
                <a:solidFill>
                  <a:srgbClr val="1F2937"/>
                </a:solidFill>
                <a:latin typeface="微软雅黑" panose="020B0503020204020204" charset="-122"/>
              </a:rPr>
              <a:t>OpenCV
解码</a:t>
            </a:r>
            <a:endParaRPr sz="92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8293608" y="1828800"/>
            <a:ext cx="301752" cy="0"/>
          </a:xfrm>
          <a:prstGeom prst="line">
            <a:avLst/>
          </a:prstGeom>
          <a:ln w="1397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595360" y="1444752"/>
            <a:ext cx="1115568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31936" y="1536192"/>
            <a:ext cx="1042415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微软雅黑" panose="020B0503020204020204" charset="-122"/>
              </a:rPr>
              <a:t>4</a:t>
            </a:r>
            <a:endParaRPr sz="13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31936" y="1755648"/>
            <a:ext cx="1042415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20" b="0">
                <a:solidFill>
                  <a:srgbClr val="1F2937"/>
                </a:solidFill>
                <a:latin typeface="微软雅黑" panose="020B0503020204020204" charset="-122"/>
              </a:rPr>
              <a:t>320×240
推理</a:t>
            </a:r>
            <a:endParaRPr sz="92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9710928" y="1828800"/>
            <a:ext cx="301752" cy="0"/>
          </a:xfrm>
          <a:prstGeom prst="line">
            <a:avLst/>
          </a:prstGeom>
          <a:ln w="1397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12680" y="1444752"/>
            <a:ext cx="1115568" cy="7680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9255" y="1536192"/>
            <a:ext cx="1042415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微软雅黑" panose="020B0503020204020204" charset="-122"/>
              </a:rPr>
              <a:t>5</a:t>
            </a:r>
            <a:endParaRPr sz="13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049255" y="1755648"/>
            <a:ext cx="1042415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20" b="0">
                <a:solidFill>
                  <a:srgbClr val="1F2937"/>
                </a:solidFill>
                <a:latin typeface="微软雅黑" panose="020B0503020204020204" charset="-122"/>
              </a:rPr>
              <a:t>映射坐标
并计数</a:t>
            </a:r>
            <a:endParaRPr sz="92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3232" y="276148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22340"/>
                </a:solidFill>
                <a:latin typeface="微软雅黑" panose="020B0503020204020204" charset="-122"/>
              </a:rPr>
              <a:t>报警防抖机制（重点）</a:t>
            </a:r>
            <a:endParaRPr sz="19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9808" y="3182112"/>
            <a:ext cx="5394960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330" b="1">
                <a:solidFill>
                  <a:srgbClr val="1F2937"/>
                </a:solidFill>
                <a:latin typeface="微软雅黑" panose="020B0503020204020204" charset="-122"/>
              </a:rPr>
              <a:t>触发条件：</a:t>
            </a:r>
            <a:r>
              <a:rPr sz="1330">
                <a:solidFill>
                  <a:srgbClr val="1F2937"/>
                </a:solidFill>
                <a:latin typeface="微软雅黑" panose="020B0503020204020204" charset="-122"/>
              </a:rPr>
              <a:t>连续 3 帧人数超过阈值，才进入报警状态，避免单帧误检导致误报警。</a:t>
            </a:r>
            <a:endParaRPr sz="13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330" b="1">
                <a:solidFill>
                  <a:srgbClr val="1F2937"/>
                </a:solidFill>
                <a:latin typeface="微软雅黑" panose="020B0503020204020204" charset="-122"/>
              </a:rPr>
              <a:t>解除条件：</a:t>
            </a:r>
            <a:r>
              <a:rPr sz="1330">
                <a:solidFill>
                  <a:srgbClr val="1F2937"/>
                </a:solidFill>
                <a:latin typeface="微软雅黑" panose="020B0503020204020204" charset="-122"/>
              </a:rPr>
              <a:t>连续 3 帧低于阈值，才解除报警，避免画面短时波动造成频繁切换。</a:t>
            </a:r>
            <a:endParaRPr sz="13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330" b="1">
                <a:solidFill>
                  <a:srgbClr val="1F2937"/>
                </a:solidFill>
                <a:latin typeface="微软雅黑" panose="020B0503020204020204" charset="-122"/>
              </a:rPr>
              <a:t>锁定机制：</a:t>
            </a:r>
            <a:r>
              <a:rPr sz="1330">
                <a:solidFill>
                  <a:srgbClr val="1F2937"/>
                </a:solidFill>
                <a:latin typeface="微软雅黑" panose="020B0503020204020204" charset="-122"/>
              </a:rPr>
              <a:t>状态切换后锁定 3 秒，进一步防止报警状态震荡。</a:t>
            </a:r>
            <a:endParaRPr sz="133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73952" y="2761488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22340"/>
                </a:solidFill>
                <a:latin typeface="微软雅黑" panose="020B0503020204020204" charset="-122"/>
              </a:rPr>
              <a:t>通信协议与限速</a:t>
            </a:r>
            <a:endParaRPr sz="19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510528" y="3273552"/>
            <a:ext cx="4800600" cy="50292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3429000"/>
            <a:ext cx="4800600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微软雅黑" panose="020B0503020204020204" charset="-122"/>
              </a:rPr>
              <a:t>COUNT:人数,ALARM:0/1</a:t>
            </a:r>
            <a:endParaRPr sz="18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37960" y="4023360"/>
            <a:ext cx="484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80">
                <a:solidFill>
                  <a:srgbClr val="1F2937"/>
                </a:solidFill>
                <a:latin typeface="微软雅黑" panose="020B0503020204020204" charset="-122"/>
              </a:rPr>
              <a:t>TCP 广播限速 0.5 秒，降低 STM32 UART 溢出风险。</a:t>
            </a:r>
            <a:endParaRPr sz="128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80">
                <a:solidFill>
                  <a:srgbClr val="1F2937"/>
                </a:solidFill>
                <a:latin typeface="微软雅黑" panose="020B0503020204020204" charset="-122"/>
              </a:rPr>
              <a:t>数据库写入限速 2 秒，减少高频写入压力。</a:t>
            </a:r>
            <a:endParaRPr sz="128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80">
                <a:solidFill>
                  <a:srgbClr val="1F2937"/>
                </a:solidFill>
                <a:latin typeface="微软雅黑" panose="020B0503020204020204" charset="-122"/>
              </a:rPr>
              <a:t>手动报警期间暂停自动 TCP 广播，保证人工控制优先。</a:t>
            </a:r>
            <a:endParaRPr sz="128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66928" y="6473952"/>
            <a:ext cx="658368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20" b="0">
                <a:solidFill>
                  <a:srgbClr val="6B7280"/>
                </a:solidFill>
                <a:latin typeface="微软雅黑" panose="020B0503020204020204" charset="-122"/>
              </a:rPr>
              <a:t>应急场景下的校园人流量监测预警系统｜中期答辩</a:t>
            </a:r>
            <a:endParaRPr sz="82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201400" y="64648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0">
                <a:solidFill>
                  <a:srgbClr val="6B7280"/>
                </a:solidFill>
                <a:latin typeface="微软雅黑" panose="020B0503020204020204" charset="-122"/>
              </a:rPr>
              <a:t>07</a:t>
            </a:r>
            <a:endParaRPr sz="95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122340"/>
                </a:solidFill>
                <a:latin typeface="微软雅黑" panose="020B0503020204020204" charset="-122"/>
              </a:rPr>
              <a:t>七、关键技术选型与稳定性优化</a:t>
            </a:r>
            <a:endParaRPr sz="24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418320" y="310896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80" b="0">
                <a:solidFill>
                  <a:srgbClr val="6B7280"/>
                </a:solidFill>
                <a:latin typeface="微软雅黑" panose="020B0503020204020204" charset="-122"/>
              </a:rPr>
              <a:t>工程取舍</a:t>
            </a:r>
            <a:endParaRPr sz="108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786384"/>
            <a:ext cx="950976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495" y="1005840"/>
            <a:ext cx="5303520" cy="1304925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124712"/>
            <a:ext cx="4974336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>
                <a:solidFill>
                  <a:srgbClr val="2563EB"/>
                </a:solidFill>
                <a:latin typeface="微软雅黑" panose="020B0503020204020204" charset="-122"/>
              </a:rPr>
              <a:t>MJPEG 解析方案</a:t>
            </a:r>
            <a:endParaRPr sz="155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3816" y="1463040"/>
            <a:ext cx="4992624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130" b="1">
                <a:solidFill>
                  <a:srgbClr val="1F2937"/>
                </a:solidFill>
                <a:latin typeface="微软雅黑" panose="020B0503020204020204" charset="-122"/>
              </a:rPr>
              <a:t>放弃 cv2.VideoCapture：</a:t>
            </a:r>
            <a:r>
              <a:rPr sz="1130">
                <a:solidFill>
                  <a:srgbClr val="1F2937"/>
                </a:solidFill>
                <a:latin typeface="微软雅黑" panose="020B0503020204020204" charset="-122"/>
              </a:rPr>
              <a:t>FFmpeg 对 multipart 流解析不够稳定。</a:t>
            </a:r>
            <a:endParaRPr sz="11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130" b="1">
                <a:solidFill>
                  <a:srgbClr val="1F2937"/>
                </a:solidFill>
                <a:latin typeface="微软雅黑" panose="020B0503020204020204" charset="-122"/>
              </a:rPr>
              <a:t>采用 HTTP raw 直读：</a:t>
            </a:r>
            <a:r>
              <a:rPr sz="1130">
                <a:solidFill>
                  <a:srgbClr val="1F2937"/>
                </a:solidFill>
                <a:latin typeface="微软雅黑" panose="020B0503020204020204" charset="-122"/>
              </a:rPr>
              <a:t>手动查找 JPEG 起始 SOI 与结束 EOI 标记进行切帧，稳定性更高。</a:t>
            </a:r>
            <a:endParaRPr sz="113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09360" y="1005840"/>
            <a:ext cx="5257800" cy="1315085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124712"/>
            <a:ext cx="4928616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>
                <a:solidFill>
                  <a:srgbClr val="D97706"/>
                </a:solidFill>
                <a:latin typeface="微软雅黑" panose="020B0503020204020204" charset="-122"/>
              </a:rPr>
              <a:t>ESP8266 通信模式</a:t>
            </a:r>
            <a:endParaRPr sz="155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64808" y="1463040"/>
            <a:ext cx="4946904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130" b="1">
                <a:solidFill>
                  <a:srgbClr val="1F2937"/>
                </a:solidFill>
                <a:latin typeface="微软雅黑" panose="020B0503020204020204" charset="-122"/>
              </a:rPr>
              <a:t>放弃普通模式：</a:t>
            </a:r>
            <a:r>
              <a:rPr sz="1130">
                <a:solidFill>
                  <a:srgbClr val="1F2937"/>
                </a:solidFill>
                <a:latin typeface="微软雅黑" panose="020B0503020204020204" charset="-122"/>
              </a:rPr>
              <a:t>需要解析 +IPD,N: 前缀，且要处理分片拼接。</a:t>
            </a:r>
            <a:endParaRPr sz="11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130" b="1">
                <a:solidFill>
                  <a:srgbClr val="1F2937"/>
                </a:solidFill>
                <a:latin typeface="微软雅黑" panose="020B0503020204020204" charset="-122"/>
              </a:rPr>
              <a:t>采用透明传输：</a:t>
            </a:r>
            <a:r>
              <a:rPr sz="1130">
                <a:solidFill>
                  <a:srgbClr val="1F2937"/>
                </a:solidFill>
                <a:latin typeface="微软雅黑" panose="020B0503020204020204" charset="-122"/>
              </a:rPr>
              <a:t>CIPMODE=1 后 TCP 数据直达 UART，STM32 可直接 sscanf 匹配。</a:t>
            </a:r>
            <a:endParaRPr sz="113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495" y="2788920"/>
            <a:ext cx="5303520" cy="128079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849" y="2907791"/>
            <a:ext cx="4974336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>
                <a:solidFill>
                  <a:srgbClr val="16A34A"/>
                </a:solidFill>
                <a:latin typeface="微软雅黑" panose="020B0503020204020204" charset="-122"/>
              </a:rPr>
              <a:t>STM32 初始化优化</a:t>
            </a:r>
            <a:endParaRPr sz="1550" b="1">
              <a:solidFill>
                <a:srgbClr val="16A34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3816" y="3246120"/>
            <a:ext cx="4992624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130">
                <a:solidFill>
                  <a:srgbClr val="1F2937"/>
                </a:solidFill>
                <a:latin typeface="微软雅黑" panose="020B0503020204020204" charset="-122"/>
              </a:rPr>
              <a:t>WiFi 信息保存到 ESP8266 flash，上电自动连接热点。</a:t>
            </a:r>
            <a:endParaRPr sz="11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130">
                <a:solidFill>
                  <a:srgbClr val="1F2937"/>
                </a:solidFill>
                <a:latin typeface="微软雅黑" panose="020B0503020204020204" charset="-122"/>
              </a:rPr>
              <a:t>去掉 CWMODE、CWQAP、CWJAP 等冗余 AT 指令。</a:t>
            </a:r>
            <a:endParaRPr sz="11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130">
                <a:solidFill>
                  <a:srgbClr val="1F2937"/>
                </a:solidFill>
                <a:latin typeface="微软雅黑" panose="020B0503020204020204" charset="-122"/>
              </a:rPr>
              <a:t>启动时间从约 15 秒缩短到约 5 秒。</a:t>
            </a:r>
            <a:endParaRPr sz="113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309360" y="2788920"/>
            <a:ext cx="5257800" cy="128143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907791"/>
            <a:ext cx="4928616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>
                <a:solidFill>
                  <a:srgbClr val="0EA5E9"/>
                </a:solidFill>
                <a:latin typeface="微软雅黑" panose="020B0503020204020204" charset="-122"/>
              </a:rPr>
              <a:t>TCP 稳定性保障</a:t>
            </a:r>
            <a:endParaRPr sz="1550" b="1">
              <a:solidFill>
                <a:srgbClr val="0EA5E9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64808" y="3246120"/>
            <a:ext cx="4946904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130">
                <a:solidFill>
                  <a:srgbClr val="1F2937"/>
                </a:solidFill>
                <a:latin typeface="微软雅黑" panose="020B0503020204020204" charset="-122"/>
              </a:rPr>
              <a:t>开启 SO_KEEPALIVE，及时发现异常连接。</a:t>
            </a:r>
            <a:endParaRPr sz="11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130">
                <a:solidFill>
                  <a:srgbClr val="1F2937"/>
                </a:solidFill>
                <a:latin typeface="微软雅黑" panose="020B0503020204020204" charset="-122"/>
              </a:rPr>
              <a:t>设置 5 秒超时检测死连接。</a:t>
            </a:r>
            <a:endParaRPr sz="11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130">
                <a:solidFill>
                  <a:srgbClr val="1F2937"/>
                </a:solidFill>
                <a:latin typeface="微软雅黑" panose="020B0503020204020204" charset="-122"/>
              </a:rPr>
              <a:t>广播时自动清理已断开的客户端，防止无效发送堆积。</a:t>
            </a:r>
            <a:endParaRPr sz="113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658368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20" b="0">
                <a:solidFill>
                  <a:srgbClr val="6B7280"/>
                </a:solidFill>
                <a:latin typeface="微软雅黑" panose="020B0503020204020204" charset="-122"/>
              </a:rPr>
              <a:t>应急场景下的校园人流量监测预警系统｜中期答辩</a:t>
            </a:r>
            <a:endParaRPr sz="82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201400" y="64648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0">
                <a:solidFill>
                  <a:srgbClr val="6B7280"/>
                </a:solidFill>
                <a:latin typeface="微软雅黑" panose="020B0503020204020204" charset="-122"/>
              </a:rPr>
              <a:t>08</a:t>
            </a:r>
            <a:endParaRPr sz="95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122340"/>
                </a:solidFill>
                <a:latin typeface="微软雅黑" panose="020B0503020204020204" charset="-122"/>
              </a:rPr>
              <a:t>八、系统测试、总结与展望</a:t>
            </a:r>
            <a:endParaRPr sz="24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418320" y="310896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80" b="0">
                <a:solidFill>
                  <a:srgbClr val="6B7280"/>
                </a:solidFill>
                <a:latin typeface="微软雅黑" panose="020B0503020204020204" charset="-122"/>
              </a:rPr>
              <a:t>收束总结</a:t>
            </a:r>
            <a:endParaRPr sz="108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786384"/>
            <a:ext cx="950976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22340"/>
                </a:solidFill>
                <a:latin typeface="微软雅黑" panose="020B0503020204020204" charset="-122"/>
              </a:rPr>
              <a:t>测试结果</a:t>
            </a:r>
            <a:endParaRPr sz="19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1389888"/>
            <a:ext cx="5394960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微软雅黑" panose="020B0503020204020204" charset="-122"/>
              </a:rPr>
              <a:t>浏览器可稳定访问 localhost:5000 并显示视频流。</a:t>
            </a:r>
            <a:endParaRPr sz="125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微软雅黑" panose="020B0503020204020204" charset="-122"/>
              </a:rPr>
              <a:t>YOLOv8 能识别行人并实时计数，超过阈值后触发报警。</a:t>
            </a:r>
            <a:endParaRPr sz="125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微软雅黑" panose="020B0503020204020204" charset="-122"/>
              </a:rPr>
              <a:t>Web 弹窗报警与 STM32 红灯/蜂鸣器响应联动正常。</a:t>
            </a:r>
            <a:endParaRPr sz="125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微软雅黑" panose="020B0503020204020204" charset="-122"/>
              </a:rPr>
              <a:t>支持动态阈值、手动报警/解除和数据库历史记录。</a:t>
            </a:r>
            <a:endParaRPr sz="125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46520" y="100584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22340"/>
                </a:solidFill>
                <a:latin typeface="微软雅黑" panose="020B0503020204020204" charset="-122"/>
              </a:rPr>
              <a:t>性能指标</a:t>
            </a:r>
            <a:endParaRPr sz="19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92240" y="1389888"/>
            <a:ext cx="1828800" cy="365760"/>
          </a:xfrm>
          <a:prstGeom prst="rect">
            <a:avLst/>
          </a:prstGeom>
          <a:solidFill>
            <a:srgbClr val="122340"/>
          </a:solidFill>
          <a:ln w="10160">
            <a:solidFill>
              <a:srgbClr val="12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453896"/>
            <a:ext cx="177393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030" b="1">
                <a:solidFill>
                  <a:srgbClr val="FFFFFF"/>
                </a:solidFill>
                <a:latin typeface="微软雅黑" panose="020B0503020204020204" charset="-122"/>
              </a:rPr>
              <a:t>指标</a:t>
            </a:r>
            <a:endParaRPr sz="103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21040" y="1389888"/>
            <a:ext cx="3063240" cy="365760"/>
          </a:xfrm>
          <a:prstGeom prst="rect">
            <a:avLst/>
          </a:prstGeom>
          <a:solidFill>
            <a:srgbClr val="122340"/>
          </a:solidFill>
          <a:ln w="10160">
            <a:solidFill>
              <a:srgbClr val="12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453896"/>
            <a:ext cx="300837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030" b="1">
                <a:solidFill>
                  <a:srgbClr val="FFFFFF"/>
                </a:solidFill>
                <a:latin typeface="微软雅黑" panose="020B0503020204020204" charset="-122"/>
              </a:rPr>
              <a:t>结果</a:t>
            </a:r>
            <a:endParaRPr sz="103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92240" y="1755648"/>
            <a:ext cx="182880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819656"/>
            <a:ext cx="177393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010" b="0">
                <a:solidFill>
                  <a:srgbClr val="1F2937"/>
                </a:solidFill>
                <a:latin typeface="微软雅黑" panose="020B0503020204020204" charset="-122"/>
              </a:rPr>
              <a:t>检测帧率</a:t>
            </a:r>
            <a:endParaRPr sz="101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21040" y="1755648"/>
            <a:ext cx="306324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1819656"/>
            <a:ext cx="300837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010" b="0">
                <a:solidFill>
                  <a:srgbClr val="1F2937"/>
                </a:solidFill>
                <a:latin typeface="微软雅黑" panose="020B0503020204020204" charset="-122"/>
              </a:rPr>
              <a:t>~10–15 FPS（CPU 推理）</a:t>
            </a:r>
            <a:endParaRPr sz="101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92240" y="2121408"/>
            <a:ext cx="1828800" cy="36576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2185415"/>
            <a:ext cx="177393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010" b="0">
                <a:solidFill>
                  <a:srgbClr val="1F2937"/>
                </a:solidFill>
                <a:latin typeface="微软雅黑" panose="020B0503020204020204" charset="-122"/>
              </a:rPr>
              <a:t>报警响应延迟</a:t>
            </a:r>
            <a:endParaRPr sz="101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321040" y="2121408"/>
            <a:ext cx="3063240" cy="36576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1" y="2185415"/>
            <a:ext cx="300837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010" b="0">
                <a:solidFill>
                  <a:srgbClr val="1F2937"/>
                </a:solidFill>
                <a:latin typeface="微软雅黑" panose="020B0503020204020204" charset="-122"/>
              </a:rPr>
              <a:t>&lt; 1 秒（3 帧确认）</a:t>
            </a:r>
            <a:endParaRPr sz="101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92240" y="2487168"/>
            <a:ext cx="182880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2551175"/>
            <a:ext cx="177393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010" b="0">
                <a:solidFill>
                  <a:srgbClr val="1F2937"/>
                </a:solidFill>
                <a:latin typeface="微软雅黑" panose="020B0503020204020204" charset="-122"/>
              </a:rPr>
              <a:t>STM32 控制响应</a:t>
            </a:r>
            <a:endParaRPr sz="101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321040" y="2487168"/>
            <a:ext cx="306324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1" y="2551175"/>
            <a:ext cx="300837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010" b="0">
                <a:solidFill>
                  <a:srgbClr val="1F2937"/>
                </a:solidFill>
                <a:latin typeface="微软雅黑" panose="020B0503020204020204" charset="-122"/>
              </a:rPr>
              <a:t>&lt; 100 ms</a:t>
            </a:r>
            <a:endParaRPr sz="101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92240" y="2852928"/>
            <a:ext cx="1828800" cy="36576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2916936"/>
            <a:ext cx="177393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010" b="0">
                <a:solidFill>
                  <a:srgbClr val="1F2937"/>
                </a:solidFill>
                <a:latin typeface="微软雅黑" panose="020B0503020204020204" charset="-122"/>
              </a:rPr>
              <a:t>Web 刷新间隔</a:t>
            </a:r>
            <a:endParaRPr sz="101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321040" y="2852928"/>
            <a:ext cx="3063240" cy="36576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1" y="2916936"/>
            <a:ext cx="300837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010" b="0">
                <a:solidFill>
                  <a:srgbClr val="1F2937"/>
                </a:solidFill>
                <a:latin typeface="微软雅黑" panose="020B0503020204020204" charset="-122"/>
              </a:rPr>
              <a:t>2 秒</a:t>
            </a:r>
            <a:endParaRPr sz="101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3232" y="368503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22340"/>
                </a:solidFill>
                <a:latin typeface="微软雅黑" panose="020B0503020204020204" charset="-122"/>
              </a:rPr>
              <a:t>已完成工作</a:t>
            </a:r>
            <a:endParaRPr sz="19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9808" y="4041648"/>
            <a:ext cx="5394960" cy="11430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30">
                <a:solidFill>
                  <a:srgbClr val="1F2937"/>
                </a:solidFill>
                <a:latin typeface="微软雅黑" panose="020B0503020204020204" charset="-122"/>
              </a:rPr>
              <a:t>ESP32-CAM 视频采集与 MJPEG 推流。</a:t>
            </a:r>
            <a:endParaRPr sz="12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30">
                <a:solidFill>
                  <a:srgbClr val="1F2937"/>
                </a:solidFill>
                <a:latin typeface="微软雅黑" panose="020B0503020204020204" charset="-122"/>
              </a:rPr>
              <a:t>YOLOv8 行人检测部署与推理。</a:t>
            </a:r>
            <a:endParaRPr sz="12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30">
                <a:solidFill>
                  <a:srgbClr val="1F2937"/>
                </a:solidFill>
                <a:latin typeface="微软雅黑" panose="020B0503020204020204" charset="-122"/>
              </a:rPr>
              <a:t>Flask Web 仪表盘、TCP + ESP8266 + STM32 报警链路。</a:t>
            </a:r>
            <a:endParaRPr sz="12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30">
                <a:solidFill>
                  <a:srgbClr val="1F2937"/>
                </a:solidFill>
                <a:latin typeface="微软雅黑" panose="020B0503020204020204" charset="-122"/>
              </a:rPr>
              <a:t>报警防抖、阈值动态调节和历史记录。</a:t>
            </a:r>
            <a:endParaRPr sz="123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46520" y="368503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22340"/>
                </a:solidFill>
                <a:latin typeface="微软雅黑" panose="020B0503020204020204" charset="-122"/>
              </a:rPr>
              <a:t>下一步计划</a:t>
            </a:r>
            <a:endParaRPr sz="1900" b="1">
              <a:solidFill>
                <a:srgbClr val="122340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92240" y="4041648"/>
            <a:ext cx="4983480" cy="154813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>
            <a:spAutoFit/>
          </a:bodyPr>
          <a:lstStyle/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30">
                <a:solidFill>
                  <a:srgbClr val="1F2937"/>
                </a:solidFill>
                <a:latin typeface="微软雅黑" panose="020B0503020204020204" charset="-122"/>
              </a:rPr>
              <a:t>采集校园场景数据集，对模型进行微调，提高准确率。</a:t>
            </a:r>
            <a:endParaRPr sz="12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30">
                <a:solidFill>
                  <a:srgbClr val="1F2937"/>
                </a:solidFill>
                <a:latin typeface="微软雅黑" panose="020B0503020204020204" charset="-122"/>
              </a:rPr>
              <a:t>支持多摄像头同时监测。</a:t>
            </a:r>
            <a:endParaRPr sz="12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30">
                <a:solidFill>
                  <a:srgbClr val="1F2937"/>
                </a:solidFill>
                <a:latin typeface="微软雅黑" panose="020B0503020204020204" charset="-122"/>
              </a:rPr>
              <a:t>增加按日期范围查询、按小时统计、导出 CSV/Excel</a:t>
            </a:r>
            <a:endParaRPr sz="12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30">
                <a:solidFill>
                  <a:srgbClr val="1F2937"/>
                </a:solidFill>
                <a:latin typeface="微软雅黑" panose="020B0503020204020204" charset="-122"/>
              </a:rPr>
              <a:t>接入钉钉/企业微信 Webhook 或 Twilio 短信</a:t>
            </a:r>
            <a:endParaRPr sz="12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30">
                <a:solidFill>
                  <a:srgbClr val="1F2937"/>
                </a:solidFill>
                <a:latin typeface="微软雅黑" panose="020B0503020204020204" charset="-122"/>
              </a:rPr>
              <a:t>STM32 接个 0.96 寸 OLED</a:t>
            </a:r>
            <a:endParaRPr sz="1230">
              <a:solidFill>
                <a:srgbClr val="1F2937"/>
              </a:solidFill>
              <a:latin typeface="微软雅黑" panose="020B0503020204020204" charset="-122"/>
            </a:endParaRPr>
          </a:p>
          <a:p>
            <a:pPr marL="190500" indent="-95250">
              <a:lnSpc>
                <a:spcPct val="106000"/>
              </a:lnSpc>
              <a:spcAft>
                <a:spcPts val="400"/>
              </a:spcAft>
            </a:pPr>
            <a:r>
              <a:rPr sz="1230">
                <a:solidFill>
                  <a:srgbClr val="1F2937"/>
                </a:solidFill>
                <a:latin typeface="微软雅黑" panose="020B0503020204020204" charset="-122"/>
              </a:rPr>
              <a:t>加个语音模块（如 SYN6288）</a:t>
            </a:r>
            <a:endParaRPr sz="123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66928" y="6473952"/>
            <a:ext cx="658368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20" b="0">
                <a:solidFill>
                  <a:srgbClr val="6B7280"/>
                </a:solidFill>
                <a:latin typeface="微软雅黑" panose="020B0503020204020204" charset="-122"/>
              </a:rPr>
              <a:t>应急场景下的校园人流量监测预警系统｜中期答辩</a:t>
            </a:r>
            <a:endParaRPr sz="82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201400" y="64648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0">
                <a:solidFill>
                  <a:srgbClr val="6B7280"/>
                </a:solidFill>
                <a:latin typeface="微软雅黑" panose="020B0503020204020204" charset="-122"/>
              </a:rPr>
              <a:t>09</a:t>
            </a:r>
            <a:endParaRPr sz="95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3708</Words>
  <Application>WPS 演示</Application>
  <PresentationFormat>On-screen Show (4:3)</PresentationFormat>
  <Paragraphs>413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huihui</cp:lastModifiedBy>
  <cp:revision>8</cp:revision>
  <dcterms:created xsi:type="dcterms:W3CDTF">2013-01-27T09:14:00Z</dcterms:created>
  <dcterms:modified xsi:type="dcterms:W3CDTF">2026-05-09T00:22:07Z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4DFC0B958448416699E3107D9EDA2031</vt:lpwstr>
  </property>
  <property fmtid="{D5CDD505-2E9C-101B-9397-08002B2CF9AE}" pid="3" name="KSOProductBuildVer">
    <vt:lpwstr>2052-11.1.0.10358</vt:lpwstr>
  </property>
</Properties>
</file>